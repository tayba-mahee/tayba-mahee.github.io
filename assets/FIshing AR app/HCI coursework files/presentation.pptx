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5" r:id="rId3"/>
    <p:sldId id="276" r:id="rId4"/>
    <p:sldId id="277" r:id="rId5"/>
    <p:sldId id="278" r:id="rId6"/>
    <p:sldId id="279" r:id="rId7"/>
    <p:sldId id="258" r:id="rId8"/>
    <p:sldId id="267" r:id="rId9"/>
    <p:sldId id="269" r:id="rId10"/>
    <p:sldId id="274" r:id="rId11"/>
    <p:sldId id="270" r:id="rId12"/>
    <p:sldId id="271" r:id="rId13"/>
    <p:sldId id="272" r:id="rId14"/>
    <p:sldId id="273" r:id="rId15"/>
    <p:sldId id="262" r:id="rId16"/>
    <p:sldId id="263" r:id="rId17"/>
    <p:sldId id="281" r:id="rId18"/>
    <p:sldId id="282" r:id="rId19"/>
    <p:sldId id="283" r:id="rId20"/>
    <p:sldId id="284" r:id="rId21"/>
    <p:sldId id="280" r:id="rId22"/>
    <p:sldId id="285" r:id="rId23"/>
    <p:sldId id="2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6B49F-F033-B000-BD5C-8E2D882FBB2F}" v="2" dt="2021-03-16T13:26:56.012"/>
    <p1510:client id="{139AB49F-B056-B000-BD5C-8931A195BAD7}" v="2248" dt="2021-03-15T21:33:06.708"/>
    <p1510:client id="{A667D7E3-C5CD-4571-E800-36AF6CF6850C}" v="100" dt="2021-03-16T14:42:11.148"/>
    <p1510:client id="{B419F462-4CBD-4B82-8E90-DF29B5D645EE}" v="33" dt="2021-03-15T19:53:21.188"/>
    <p1510:client id="{B6F860C5-CF65-403C-8DD9-ED80D9784391}" v="6" dt="2021-03-16T13:10:01.618"/>
    <p1510:client id="{DB097859-5678-E862-80FC-822261105F91}" v="931" dt="2021-03-16T14:25:29.285"/>
    <p1510:client id="{F5D8B49F-20C7-B000-BD5C-815568692E3B}" v="455" dt="2021-03-16T14:43:02.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2F5F5-730B-4F44-ABE5-13F5E1C8AE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532AB7-5743-468D-95B0-03E5DC435E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536E03-CBED-4363-8325-0EE448408C0B}"/>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5" name="Footer Placeholder 4">
            <a:extLst>
              <a:ext uri="{FF2B5EF4-FFF2-40B4-BE49-F238E27FC236}">
                <a16:creationId xmlns:a16="http://schemas.microsoft.com/office/drawing/2014/main" id="{6BCC556D-ED2C-4BE7-9142-13A1FFE52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5A3D58-7336-4D63-9C55-0CBAA939EA4D}"/>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3964674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20BF8-7F1A-4C3C-B7CC-DD6A901706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77F9C2-AF0B-4530-A734-39C8783D62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21907-7716-45B3-9F8B-F425776002E7}"/>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5" name="Footer Placeholder 4">
            <a:extLst>
              <a:ext uri="{FF2B5EF4-FFF2-40B4-BE49-F238E27FC236}">
                <a16:creationId xmlns:a16="http://schemas.microsoft.com/office/drawing/2014/main" id="{4FD15BB8-3A1C-4571-BE75-7F57AEAD3C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8350FF-DDC5-49E0-911C-985B90184037}"/>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553239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4AEBF-7545-485A-9C60-920FAB580D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1F98DE-2149-4BC3-8A52-61FCCFCC57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E65237-9225-42C5-BB7B-B7947417A94F}"/>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5" name="Footer Placeholder 4">
            <a:extLst>
              <a:ext uri="{FF2B5EF4-FFF2-40B4-BE49-F238E27FC236}">
                <a16:creationId xmlns:a16="http://schemas.microsoft.com/office/drawing/2014/main" id="{450CFE5B-0013-4380-A205-BBB500B9C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7A506A-3903-46D5-ADDE-8B7346949BF8}"/>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4232993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5365-733D-403B-A9FE-ADA805842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F52B69-AF14-4483-90E3-318BC7C155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4CAD5A-9DD3-416B-9B54-3EA47BA66C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AC279C-A16F-4A43-861A-E275E4022B5A}"/>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6" name="Footer Placeholder 5">
            <a:extLst>
              <a:ext uri="{FF2B5EF4-FFF2-40B4-BE49-F238E27FC236}">
                <a16:creationId xmlns:a16="http://schemas.microsoft.com/office/drawing/2014/main" id="{62072746-8C25-4CF1-9F0B-43D6BE10BF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81F352-5794-4530-B90D-6D2FF786B649}"/>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4203068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48B8-F514-49E2-B053-C0B63FCFB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5DD55C-5215-4C71-A941-448925E6D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9D164C-1B32-4294-A451-D8F2061E36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14C93-CD85-46D3-AE99-6EB49FBBFD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A22382-653B-42F7-9F1A-71E2BA4303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111483-0146-41AC-B691-AB454D7DC3AF}"/>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8" name="Footer Placeholder 7">
            <a:extLst>
              <a:ext uri="{FF2B5EF4-FFF2-40B4-BE49-F238E27FC236}">
                <a16:creationId xmlns:a16="http://schemas.microsoft.com/office/drawing/2014/main" id="{77189A16-4474-4DC2-8670-BDB81CE6A5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0604ED-A266-473C-86A9-9576829BB6E7}"/>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386075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4CCD-6B40-43C1-9450-C3260009D5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3C240D-D497-4E32-8AC3-92B336B1641A}"/>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4" name="Footer Placeholder 3">
            <a:extLst>
              <a:ext uri="{FF2B5EF4-FFF2-40B4-BE49-F238E27FC236}">
                <a16:creationId xmlns:a16="http://schemas.microsoft.com/office/drawing/2014/main" id="{EF9784C1-9CCA-4422-BC89-18105700D1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B972A0-6C32-4BA4-8228-4E63DEACEA6E}"/>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3162816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17EAE4-8ACB-4928-ADB7-D0390F60D96D}"/>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3" name="Footer Placeholder 2">
            <a:extLst>
              <a:ext uri="{FF2B5EF4-FFF2-40B4-BE49-F238E27FC236}">
                <a16:creationId xmlns:a16="http://schemas.microsoft.com/office/drawing/2014/main" id="{E5ACF8AF-FA07-4123-86DF-A9B2FD7D18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A570A3-9A29-4E20-9ED5-84D7F85E6099}"/>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1554443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744D8-9758-4E50-A99C-0AB65F6CBA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0452B6-5CC7-45B3-A155-7194B7F8B9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45CB76-2A50-4B9D-9E8C-D93C791D8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73770-61F0-4217-B3E3-9F082274CB00}"/>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6" name="Footer Placeholder 5">
            <a:extLst>
              <a:ext uri="{FF2B5EF4-FFF2-40B4-BE49-F238E27FC236}">
                <a16:creationId xmlns:a16="http://schemas.microsoft.com/office/drawing/2014/main" id="{255C069E-678B-40AC-97EE-BAD84ED70F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730F6-0880-4E43-8A94-330E07F26109}"/>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2181411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D071-8C05-46A0-9270-3F8F2C8E7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CE3404-3962-4331-A408-680BF7D904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DD99D3-9823-47F9-B961-E39B012DE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F2F1C4-5794-41FA-88A1-C0BD52C1A25F}"/>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6" name="Footer Placeholder 5">
            <a:extLst>
              <a:ext uri="{FF2B5EF4-FFF2-40B4-BE49-F238E27FC236}">
                <a16:creationId xmlns:a16="http://schemas.microsoft.com/office/drawing/2014/main" id="{C66F2E02-0E0A-4BF3-A904-C8ABA5A4AF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93BA16-9DD3-4DB4-819C-6BFC6AE0BA61}"/>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2473183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66C9-7163-4FBE-896E-2C99B630D0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871721-B33E-4960-91B1-52D44C4ACF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132514-F60D-4A05-826C-AEF29C754699}"/>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5" name="Footer Placeholder 4">
            <a:extLst>
              <a:ext uri="{FF2B5EF4-FFF2-40B4-BE49-F238E27FC236}">
                <a16:creationId xmlns:a16="http://schemas.microsoft.com/office/drawing/2014/main" id="{71EA90E1-C744-43CF-910F-EDFBBD24F9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4261A-9F93-4F54-BBB2-6A76025ADDC2}"/>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1839266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C20196-FABD-4F08-AEF8-268F70F44D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C08D44-5813-42C0-9EC8-E97FE46BBE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DCDFF-8395-495B-BFCE-AF222C787E78}"/>
              </a:ext>
            </a:extLst>
          </p:cNvPr>
          <p:cNvSpPr>
            <a:spLocks noGrp="1"/>
          </p:cNvSpPr>
          <p:nvPr>
            <p:ph type="dt" sz="half" idx="10"/>
          </p:nvPr>
        </p:nvSpPr>
        <p:spPr/>
        <p:txBody>
          <a:bodyPr/>
          <a:lstStyle/>
          <a:p>
            <a:fld id="{D8D95A48-FBEE-4272-9464-695027F6CD0D}" type="datetimeFigureOut">
              <a:rPr lang="en-US" smtClean="0"/>
              <a:t>4/8/2021</a:t>
            </a:fld>
            <a:endParaRPr lang="en-US"/>
          </a:p>
        </p:txBody>
      </p:sp>
      <p:sp>
        <p:nvSpPr>
          <p:cNvPr id="5" name="Footer Placeholder 4">
            <a:extLst>
              <a:ext uri="{FF2B5EF4-FFF2-40B4-BE49-F238E27FC236}">
                <a16:creationId xmlns:a16="http://schemas.microsoft.com/office/drawing/2014/main" id="{354DF951-21CE-4DF3-BCF7-E7F637AFC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833F5-06DE-47A3-907B-111010B8D554}"/>
              </a:ext>
            </a:extLst>
          </p:cNvPr>
          <p:cNvSpPr>
            <a:spLocks noGrp="1"/>
          </p:cNvSpPr>
          <p:nvPr>
            <p:ph type="sldNum" sz="quarter" idx="12"/>
          </p:nvPr>
        </p:nvSpPr>
        <p:spPr/>
        <p:txBody>
          <a:bodyPr/>
          <a:lstStyle/>
          <a:p>
            <a:fld id="{2AE0C8C6-575D-4461-B455-744FEAC57232}" type="slidenum">
              <a:rPr lang="en-US" smtClean="0"/>
              <a:t>‹#›</a:t>
            </a:fld>
            <a:endParaRPr lang="en-US"/>
          </a:p>
        </p:txBody>
      </p:sp>
    </p:spTree>
    <p:extLst>
      <p:ext uri="{BB962C8B-B14F-4D97-AF65-F5344CB8AC3E}">
        <p14:creationId xmlns:p14="http://schemas.microsoft.com/office/powerpoint/2010/main" val="1043098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913BD1-7390-4ED3-B631-230ADCD94F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A3EDD3-45E9-48AF-88E9-A6C790D321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93294-965C-4265-B815-B22016EA8B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D95A48-FBEE-4272-9464-695027F6CD0D}" type="datetimeFigureOut">
              <a:rPr lang="en-US" smtClean="0"/>
              <a:t>4/8/2021</a:t>
            </a:fld>
            <a:endParaRPr lang="en-US"/>
          </a:p>
        </p:txBody>
      </p:sp>
      <p:sp>
        <p:nvSpPr>
          <p:cNvPr id="5" name="Footer Placeholder 4">
            <a:extLst>
              <a:ext uri="{FF2B5EF4-FFF2-40B4-BE49-F238E27FC236}">
                <a16:creationId xmlns:a16="http://schemas.microsoft.com/office/drawing/2014/main" id="{F3645012-6467-4DA0-BD76-5C28285A56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DEB782E-1FE4-403A-8F5C-3716275B11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E0C8C6-575D-4461-B455-744FEAC57232}" type="slidenum">
              <a:rPr lang="en-US" smtClean="0"/>
              <a:t>‹#›</a:t>
            </a:fld>
            <a:endParaRPr lang="en-US"/>
          </a:p>
        </p:txBody>
      </p:sp>
    </p:spTree>
    <p:extLst>
      <p:ext uri="{BB962C8B-B14F-4D97-AF65-F5344CB8AC3E}">
        <p14:creationId xmlns:p14="http://schemas.microsoft.com/office/powerpoint/2010/main" val="1304589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CAEA116-2902-40A8-ABD1-F08E7963EEE0}"/>
              </a:ext>
            </a:extLst>
          </p:cNvPr>
          <p:cNvSpPr>
            <a:spLocks noGrp="1"/>
          </p:cNvSpPr>
          <p:nvPr>
            <p:ph type="subTitle" idx="1"/>
          </p:nvPr>
        </p:nvSpPr>
        <p:spPr>
          <a:xfrm>
            <a:off x="171450" y="1142999"/>
            <a:ext cx="11811000" cy="5476875"/>
          </a:xfrm>
        </p:spPr>
        <p:txBody>
          <a:bodyPr vert="horz" lIns="91440" tIns="45720" rIns="91440" bIns="45720" rtlCol="0" anchor="t">
            <a:normAutofit lnSpcReduction="10000"/>
          </a:bodyPr>
          <a:lstStyle/>
          <a:p>
            <a:endParaRPr lang="en-US"/>
          </a:p>
          <a:p>
            <a:endParaRPr lang="en-US"/>
          </a:p>
          <a:p>
            <a:r>
              <a:rPr lang="en-US" sz="2800" b="1">
                <a:ea typeface="+mn-lt"/>
                <a:cs typeface="+mn-lt"/>
              </a:rPr>
              <a:t>Augmented Reality Technique for </a:t>
            </a:r>
            <a:br>
              <a:rPr lang="en-US" sz="2800" b="1">
                <a:ea typeface="+mn-lt"/>
                <a:cs typeface="+mn-lt"/>
              </a:rPr>
            </a:br>
            <a:r>
              <a:rPr lang="en-US" sz="2800" b="1">
                <a:ea typeface="+mn-lt"/>
                <a:cs typeface="+mn-lt"/>
              </a:rPr>
              <a:t>Reducing Overfishing</a:t>
            </a:r>
            <a:endParaRPr lang="en-US" b="1">
              <a:cs typeface="Calibri"/>
            </a:endParaRPr>
          </a:p>
          <a:p>
            <a:endParaRPr lang="en-US"/>
          </a:p>
          <a:p>
            <a:endParaRPr lang="en-US"/>
          </a:p>
          <a:p>
            <a:endParaRPr lang="en-US"/>
          </a:p>
          <a:p>
            <a:endParaRPr lang="en-US"/>
          </a:p>
          <a:p>
            <a:endParaRPr lang="en-US"/>
          </a:p>
          <a:p>
            <a:r>
              <a:rPr lang="en-US" b="1"/>
              <a:t>Prepared By</a:t>
            </a:r>
            <a:endParaRPr lang="en-US" b="1">
              <a:cs typeface="Calibri"/>
            </a:endParaRPr>
          </a:p>
          <a:p>
            <a:r>
              <a:rPr lang="en-US"/>
              <a:t>Mohammad Abu-Shaira</a:t>
            </a:r>
            <a:endParaRPr lang="en-US">
              <a:cs typeface="Calibri"/>
            </a:endParaRPr>
          </a:p>
          <a:p>
            <a:r>
              <a:rPr lang="en-US">
                <a:solidFill>
                  <a:srgbClr val="323130"/>
                </a:solidFill>
                <a:latin typeface="Segoe UI"/>
                <a:cs typeface="Segoe UI"/>
              </a:rPr>
              <a:t>Mahee </a:t>
            </a:r>
            <a:r>
              <a:rPr lang="en-US" err="1">
                <a:solidFill>
                  <a:srgbClr val="323130"/>
                </a:solidFill>
                <a:latin typeface="Segoe UI"/>
                <a:cs typeface="Segoe UI"/>
              </a:rPr>
              <a:t>Tayba</a:t>
            </a:r>
            <a:endParaRPr lang="en-US">
              <a:solidFill>
                <a:srgbClr val="323130"/>
              </a:solidFill>
              <a:latin typeface="Segoe UI"/>
              <a:cs typeface="Segoe UI"/>
            </a:endParaRPr>
          </a:p>
          <a:p>
            <a:r>
              <a:rPr lang="en-US">
                <a:solidFill>
                  <a:srgbClr val="323130"/>
                </a:solidFill>
                <a:latin typeface="Segoe UI"/>
                <a:cs typeface="Segoe UI"/>
              </a:rPr>
              <a:t>Amr El-Sayed</a:t>
            </a:r>
          </a:p>
        </p:txBody>
      </p:sp>
      <p:pic>
        <p:nvPicPr>
          <p:cNvPr id="5" name="Picture 4">
            <a:extLst>
              <a:ext uri="{FF2B5EF4-FFF2-40B4-BE49-F238E27FC236}">
                <a16:creationId xmlns:a16="http://schemas.microsoft.com/office/drawing/2014/main" id="{3D609CE4-AF3A-42A1-89A2-89BA55A4D919}"/>
              </a:ext>
            </a:extLst>
          </p:cNvPr>
          <p:cNvPicPr>
            <a:picLocks noChangeAspect="1"/>
          </p:cNvPicPr>
          <p:nvPr/>
        </p:nvPicPr>
        <p:blipFill>
          <a:blip r:embed="rId2"/>
          <a:stretch>
            <a:fillRect/>
          </a:stretch>
        </p:blipFill>
        <p:spPr>
          <a:xfrm>
            <a:off x="10129837" y="1209675"/>
            <a:ext cx="1666875" cy="2133600"/>
          </a:xfrm>
          <a:prstGeom prst="rect">
            <a:avLst/>
          </a:prstGeom>
        </p:spPr>
      </p:pic>
    </p:spTree>
    <p:extLst>
      <p:ext uri="{BB962C8B-B14F-4D97-AF65-F5344CB8AC3E}">
        <p14:creationId xmlns:p14="http://schemas.microsoft.com/office/powerpoint/2010/main" val="846604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39477-1BF3-4B12-8898-B9D424087989}"/>
              </a:ext>
            </a:extLst>
          </p:cNvPr>
          <p:cNvSpPr>
            <a:spLocks noGrp="1"/>
          </p:cNvSpPr>
          <p:nvPr>
            <p:ph type="title"/>
          </p:nvPr>
        </p:nvSpPr>
        <p:spPr/>
        <p:txBody>
          <a:bodyPr/>
          <a:lstStyle/>
          <a:p>
            <a:r>
              <a:rPr lang="en-US" b="1">
                <a:cs typeface="Calibri Light"/>
              </a:rPr>
              <a:t>Augmented Fishing Prototype</a:t>
            </a:r>
            <a:endParaRPr lang="en-US"/>
          </a:p>
        </p:txBody>
      </p:sp>
      <p:sp>
        <p:nvSpPr>
          <p:cNvPr id="3" name="Content Placeholder 2">
            <a:extLst>
              <a:ext uri="{FF2B5EF4-FFF2-40B4-BE49-F238E27FC236}">
                <a16:creationId xmlns:a16="http://schemas.microsoft.com/office/drawing/2014/main" id="{D4202968-6279-416F-8286-337410BCAC51}"/>
              </a:ext>
            </a:extLst>
          </p:cNvPr>
          <p:cNvSpPr>
            <a:spLocks noGrp="1"/>
          </p:cNvSpPr>
          <p:nvPr>
            <p:ph idx="1"/>
          </p:nvPr>
        </p:nvSpPr>
        <p:spPr>
          <a:xfrm>
            <a:off x="768927" y="1904794"/>
            <a:ext cx="10515600" cy="4351338"/>
          </a:xfrm>
        </p:spPr>
        <p:txBody>
          <a:bodyPr vert="horz" lIns="91440" tIns="45720" rIns="91440" bIns="45720" rtlCol="0" anchor="t">
            <a:normAutofit/>
          </a:bodyPr>
          <a:lstStyle/>
          <a:p>
            <a:pPr marL="0" indent="0">
              <a:buNone/>
            </a:pPr>
            <a:r>
              <a:rPr lang="en-GB">
                <a:ea typeface="+mn-lt"/>
                <a:cs typeface="+mn-lt"/>
              </a:rPr>
              <a:t>•Traditional Fishing is a kind of a sport which is highly regulated because of concerns related to:</a:t>
            </a:r>
            <a:endParaRPr lang="en-GB">
              <a:cs typeface="Calibri" panose="020F0502020204030204"/>
            </a:endParaRPr>
          </a:p>
          <a:p>
            <a:pPr marL="0" indent="0">
              <a:buNone/>
            </a:pPr>
            <a:r>
              <a:rPr lang="en-GB">
                <a:ea typeface="+mn-lt"/>
                <a:cs typeface="+mn-lt"/>
              </a:rPr>
              <a:t>•Fishing Wealth.</a:t>
            </a:r>
            <a:endParaRPr lang="en-GB">
              <a:cs typeface="Calibri" panose="020F0502020204030204"/>
            </a:endParaRPr>
          </a:p>
          <a:p>
            <a:pPr marL="0" indent="0">
              <a:buNone/>
            </a:pPr>
            <a:r>
              <a:rPr lang="en-GB">
                <a:ea typeface="+mn-lt"/>
                <a:cs typeface="+mn-lt"/>
              </a:rPr>
              <a:t>•Overfishing</a:t>
            </a:r>
            <a:endParaRPr lang="en-GB">
              <a:cs typeface="Calibri" panose="020F0502020204030204"/>
            </a:endParaRPr>
          </a:p>
          <a:p>
            <a:pPr marL="0" indent="0">
              <a:buNone/>
            </a:pPr>
            <a:r>
              <a:rPr lang="en-GB">
                <a:ea typeface="+mn-lt"/>
                <a:cs typeface="+mn-lt"/>
              </a:rPr>
              <a:t>•Wrong Fishing Practices.</a:t>
            </a:r>
            <a:endParaRPr lang="en-GB">
              <a:cs typeface="Calibri" panose="020F0502020204030204"/>
            </a:endParaRPr>
          </a:p>
          <a:p>
            <a:pPr marL="0" indent="0">
              <a:buNone/>
            </a:pPr>
            <a:r>
              <a:rPr lang="en-GB">
                <a:ea typeface="+mn-lt"/>
                <a:cs typeface="+mn-lt"/>
              </a:rPr>
              <a:t>•Also has other concerns:</a:t>
            </a:r>
            <a:endParaRPr lang="en-GB">
              <a:cs typeface="Calibri" panose="020F0502020204030204"/>
            </a:endParaRPr>
          </a:p>
          <a:p>
            <a:pPr marL="457200" lvl="1" indent="0">
              <a:buNone/>
            </a:pPr>
            <a:r>
              <a:rPr lang="en-GB">
                <a:ea typeface="+mn-lt"/>
                <a:cs typeface="+mn-lt"/>
              </a:rPr>
              <a:t>•The fishermen connection to the underwater environment is diminished. </a:t>
            </a:r>
          </a:p>
          <a:p>
            <a:pPr marL="457200" lvl="1" indent="0">
              <a:buNone/>
            </a:pPr>
            <a:endParaRPr lang="en-GB">
              <a:cs typeface="Calibri"/>
            </a:endParaRPr>
          </a:p>
          <a:p>
            <a:endParaRPr lang="en-GB">
              <a:cs typeface="Calibri"/>
            </a:endParaRPr>
          </a:p>
        </p:txBody>
      </p:sp>
    </p:spTree>
    <p:extLst>
      <p:ext uri="{BB962C8B-B14F-4D97-AF65-F5344CB8AC3E}">
        <p14:creationId xmlns:p14="http://schemas.microsoft.com/office/powerpoint/2010/main" val="819001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6B0B-77C8-4959-9518-7CDE722CAE32}"/>
              </a:ext>
            </a:extLst>
          </p:cNvPr>
          <p:cNvSpPr>
            <a:spLocks noGrp="1"/>
          </p:cNvSpPr>
          <p:nvPr>
            <p:ph type="title"/>
          </p:nvPr>
        </p:nvSpPr>
        <p:spPr/>
        <p:txBody>
          <a:bodyPr/>
          <a:lstStyle/>
          <a:p>
            <a:r>
              <a:rPr lang="en-GB">
                <a:ea typeface="+mj-lt"/>
                <a:cs typeface="+mj-lt"/>
              </a:rPr>
              <a:t>What’s the problem that we are solving?</a:t>
            </a:r>
            <a:endParaRPr lang="en-US"/>
          </a:p>
        </p:txBody>
      </p:sp>
      <p:sp>
        <p:nvSpPr>
          <p:cNvPr id="3" name="Content Placeholder 2">
            <a:extLst>
              <a:ext uri="{FF2B5EF4-FFF2-40B4-BE49-F238E27FC236}">
                <a16:creationId xmlns:a16="http://schemas.microsoft.com/office/drawing/2014/main" id="{4871819D-EFD3-4694-8C4B-6FE7A35689DE}"/>
              </a:ext>
            </a:extLst>
          </p:cNvPr>
          <p:cNvSpPr>
            <a:spLocks noGrp="1"/>
          </p:cNvSpPr>
          <p:nvPr>
            <p:ph idx="1"/>
          </p:nvPr>
        </p:nvSpPr>
        <p:spPr/>
        <p:txBody>
          <a:bodyPr vert="horz" lIns="91440" tIns="45720" rIns="91440" bIns="45720" rtlCol="0" anchor="t">
            <a:normAutofit/>
          </a:bodyPr>
          <a:lstStyle/>
          <a:p>
            <a:pPr>
              <a:buNone/>
            </a:pPr>
            <a:r>
              <a:rPr lang="en-GB">
                <a:ea typeface="+mn-lt"/>
                <a:cs typeface="+mn-lt"/>
              </a:rPr>
              <a:t>• In our research paper we are trying to reduce inadvertent overfishing by giving more information letting fishermen abide with rules and regulations and avoid overfishing and wrong fishing practices.</a:t>
            </a:r>
            <a:endParaRPr lang="en-GB">
              <a:cs typeface="Calibri" panose="020F0502020204030204"/>
            </a:endParaRPr>
          </a:p>
          <a:p>
            <a:pPr>
              <a:buNone/>
            </a:pPr>
            <a:r>
              <a:rPr lang="en-GB">
                <a:ea typeface="+mn-lt"/>
                <a:cs typeface="+mn-lt"/>
              </a:rPr>
              <a:t>•Textual information about different underwater fishes:</a:t>
            </a:r>
            <a:endParaRPr lang="en-GB"/>
          </a:p>
          <a:p>
            <a:pPr lvl="1">
              <a:buNone/>
            </a:pPr>
            <a:r>
              <a:rPr lang="en-GB">
                <a:ea typeface="+mn-lt"/>
                <a:cs typeface="+mn-lt"/>
              </a:rPr>
              <a:t>•Species</a:t>
            </a:r>
          </a:p>
          <a:p>
            <a:pPr lvl="1"/>
            <a:r>
              <a:rPr lang="en-GB">
                <a:ea typeface="+mn-lt"/>
                <a:cs typeface="+mn-lt"/>
              </a:rPr>
              <a:t>Family</a:t>
            </a:r>
          </a:p>
          <a:p>
            <a:pPr lvl="1"/>
            <a:r>
              <a:rPr lang="en-GB">
                <a:ea typeface="+mn-lt"/>
                <a:cs typeface="+mn-lt"/>
              </a:rPr>
              <a:t>Age</a:t>
            </a:r>
          </a:p>
          <a:p>
            <a:pPr lvl="1"/>
            <a:r>
              <a:rPr lang="en-GB">
                <a:cs typeface="Calibri" panose="020F0502020204030204"/>
              </a:rPr>
              <a:t>Fishing Season</a:t>
            </a:r>
          </a:p>
          <a:p>
            <a:pPr lvl="1"/>
            <a:r>
              <a:rPr lang="en-GB">
                <a:cs typeface="Calibri" panose="020F0502020204030204"/>
              </a:rPr>
              <a:t>Current Size</a:t>
            </a:r>
          </a:p>
          <a:p>
            <a:pPr lvl="1"/>
            <a:r>
              <a:rPr lang="en-GB">
                <a:cs typeface="Calibri" panose="020F0502020204030204"/>
              </a:rPr>
              <a:t>Area of availability</a:t>
            </a:r>
          </a:p>
          <a:p>
            <a:pPr marL="0" indent="0">
              <a:buNone/>
            </a:pPr>
            <a:endParaRPr lang="en-GB">
              <a:cs typeface="Calibri" panose="020F0502020204030204"/>
            </a:endParaRPr>
          </a:p>
        </p:txBody>
      </p:sp>
    </p:spTree>
    <p:extLst>
      <p:ext uri="{BB962C8B-B14F-4D97-AF65-F5344CB8AC3E}">
        <p14:creationId xmlns:p14="http://schemas.microsoft.com/office/powerpoint/2010/main" val="4203527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0994-2A80-49B1-9170-D264D588ADCD}"/>
              </a:ext>
            </a:extLst>
          </p:cNvPr>
          <p:cNvSpPr>
            <a:spLocks noGrp="1"/>
          </p:cNvSpPr>
          <p:nvPr>
            <p:ph type="title"/>
          </p:nvPr>
        </p:nvSpPr>
        <p:spPr/>
        <p:txBody>
          <a:bodyPr/>
          <a:lstStyle/>
          <a:p>
            <a:r>
              <a:rPr lang="en-GB">
                <a:ea typeface="+mj-lt"/>
                <a:cs typeface="+mj-lt"/>
              </a:rPr>
              <a:t>What’s the research question?</a:t>
            </a:r>
            <a:endParaRPr lang="en-US"/>
          </a:p>
        </p:txBody>
      </p:sp>
      <p:sp>
        <p:nvSpPr>
          <p:cNvPr id="3" name="Content Placeholder 2">
            <a:extLst>
              <a:ext uri="{FF2B5EF4-FFF2-40B4-BE49-F238E27FC236}">
                <a16:creationId xmlns:a16="http://schemas.microsoft.com/office/drawing/2014/main" id="{2B91EB6F-EE14-4689-B6FA-43344FDCBD94}"/>
              </a:ext>
            </a:extLst>
          </p:cNvPr>
          <p:cNvSpPr>
            <a:spLocks noGrp="1"/>
          </p:cNvSpPr>
          <p:nvPr>
            <p:ph idx="1"/>
          </p:nvPr>
        </p:nvSpPr>
        <p:spPr/>
        <p:txBody>
          <a:bodyPr vert="horz" lIns="91440" tIns="45720" rIns="91440" bIns="45720" rtlCol="0" anchor="t">
            <a:normAutofit/>
          </a:bodyPr>
          <a:lstStyle/>
          <a:p>
            <a:pPr marL="0" indent="0">
              <a:buNone/>
            </a:pPr>
            <a:r>
              <a:rPr lang="en-GB">
                <a:ea typeface="+mn-lt"/>
                <a:cs typeface="+mn-lt"/>
              </a:rPr>
              <a:t>•How Augmented Reality can help in eliminating or reducing problems related to fishing wealth as overfishing? </a:t>
            </a:r>
            <a:endParaRPr lang="en-GB">
              <a:cs typeface="Calibri"/>
            </a:endParaRPr>
          </a:p>
          <a:p>
            <a:pPr marL="0" indent="0">
              <a:buNone/>
            </a:pPr>
            <a:endParaRPr lang="en-GB">
              <a:cs typeface="Calibri"/>
            </a:endParaRPr>
          </a:p>
          <a:p>
            <a:pPr marL="0" indent="0">
              <a:buNone/>
            </a:pPr>
            <a:r>
              <a:rPr lang="en-GB">
                <a:ea typeface="+mn-lt"/>
                <a:cs typeface="+mn-lt"/>
              </a:rPr>
              <a:t>•How Augmented fishing can allow fishermen abide with fishing rules and regulations related to fishing season and age of the fish? Regulatory to Monitor.</a:t>
            </a:r>
            <a:endParaRPr lang="en-GB">
              <a:cs typeface="Calibri"/>
            </a:endParaRPr>
          </a:p>
          <a:p>
            <a:pPr marL="0" indent="0">
              <a:buNone/>
            </a:pPr>
            <a:endParaRPr lang="en-GB">
              <a:cs typeface="Calibri"/>
            </a:endParaRPr>
          </a:p>
          <a:p>
            <a:endParaRPr lang="en-GB">
              <a:cs typeface="Calibri"/>
            </a:endParaRPr>
          </a:p>
        </p:txBody>
      </p:sp>
    </p:spTree>
    <p:extLst>
      <p:ext uri="{BB962C8B-B14F-4D97-AF65-F5344CB8AC3E}">
        <p14:creationId xmlns:p14="http://schemas.microsoft.com/office/powerpoint/2010/main" val="745069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FA3F3-B496-4C52-AACC-7586C09B414A}"/>
              </a:ext>
            </a:extLst>
          </p:cNvPr>
          <p:cNvSpPr>
            <a:spLocks noGrp="1"/>
          </p:cNvSpPr>
          <p:nvPr>
            <p:ph type="title"/>
          </p:nvPr>
        </p:nvSpPr>
        <p:spPr/>
        <p:txBody>
          <a:bodyPr/>
          <a:lstStyle/>
          <a:p>
            <a:r>
              <a:rPr lang="en-GB">
                <a:ea typeface="+mj-lt"/>
                <a:cs typeface="+mj-lt"/>
              </a:rPr>
              <a:t>Who are the users?</a:t>
            </a:r>
            <a:endParaRPr lang="en-US"/>
          </a:p>
        </p:txBody>
      </p:sp>
      <p:sp>
        <p:nvSpPr>
          <p:cNvPr id="3" name="Content Placeholder 2">
            <a:extLst>
              <a:ext uri="{FF2B5EF4-FFF2-40B4-BE49-F238E27FC236}">
                <a16:creationId xmlns:a16="http://schemas.microsoft.com/office/drawing/2014/main" id="{C255AE3A-8740-48E5-92DB-1E8DFB818FB2}"/>
              </a:ext>
            </a:extLst>
          </p:cNvPr>
          <p:cNvSpPr>
            <a:spLocks noGrp="1"/>
          </p:cNvSpPr>
          <p:nvPr>
            <p:ph idx="1"/>
          </p:nvPr>
        </p:nvSpPr>
        <p:spPr/>
        <p:txBody>
          <a:bodyPr vert="horz" lIns="91440" tIns="45720" rIns="91440" bIns="45720" rtlCol="0" anchor="t">
            <a:normAutofit/>
          </a:bodyPr>
          <a:lstStyle/>
          <a:p>
            <a:pPr>
              <a:buNone/>
            </a:pPr>
            <a:r>
              <a:rPr lang="en-GB">
                <a:ea typeface="+mn-lt"/>
                <a:cs typeface="+mn-lt"/>
              </a:rPr>
              <a:t>•Fishermen professionals who practice their sport in a professional way and abide with rules and regulations. </a:t>
            </a:r>
            <a:endParaRPr lang="en-US"/>
          </a:p>
          <a:p>
            <a:pPr>
              <a:buNone/>
            </a:pPr>
            <a:endParaRPr lang="en-GB">
              <a:ea typeface="+mn-lt"/>
              <a:cs typeface="+mn-lt"/>
            </a:endParaRPr>
          </a:p>
          <a:p>
            <a:pPr marL="0" indent="0">
              <a:buNone/>
            </a:pPr>
            <a:endParaRPr lang="en-GB">
              <a:cs typeface="Calibri"/>
            </a:endParaRPr>
          </a:p>
        </p:txBody>
      </p:sp>
    </p:spTree>
    <p:extLst>
      <p:ext uri="{BB962C8B-B14F-4D97-AF65-F5344CB8AC3E}">
        <p14:creationId xmlns:p14="http://schemas.microsoft.com/office/powerpoint/2010/main" val="60880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1805-ED04-44B6-9ECF-09C132089929}"/>
              </a:ext>
            </a:extLst>
          </p:cNvPr>
          <p:cNvSpPr>
            <a:spLocks noGrp="1"/>
          </p:cNvSpPr>
          <p:nvPr>
            <p:ph type="title"/>
          </p:nvPr>
        </p:nvSpPr>
        <p:spPr/>
        <p:txBody>
          <a:bodyPr/>
          <a:lstStyle/>
          <a:p>
            <a:r>
              <a:rPr lang="en-GB">
                <a:ea typeface="+mj-lt"/>
                <a:cs typeface="+mj-lt"/>
              </a:rPr>
              <a:t>How are we accomplishing this?</a:t>
            </a:r>
            <a:endParaRPr lang="en-US"/>
          </a:p>
        </p:txBody>
      </p:sp>
      <p:sp>
        <p:nvSpPr>
          <p:cNvPr id="3" name="Content Placeholder 2">
            <a:extLst>
              <a:ext uri="{FF2B5EF4-FFF2-40B4-BE49-F238E27FC236}">
                <a16:creationId xmlns:a16="http://schemas.microsoft.com/office/drawing/2014/main" id="{EBA251B3-4234-4F15-A7BA-54C3778695AF}"/>
              </a:ext>
            </a:extLst>
          </p:cNvPr>
          <p:cNvSpPr>
            <a:spLocks noGrp="1"/>
          </p:cNvSpPr>
          <p:nvPr>
            <p:ph idx="1"/>
          </p:nvPr>
        </p:nvSpPr>
        <p:spPr/>
        <p:txBody>
          <a:bodyPr vert="horz" lIns="91440" tIns="45720" rIns="91440" bIns="45720" rtlCol="0" anchor="t">
            <a:normAutofit fontScale="92500" lnSpcReduction="10000"/>
          </a:bodyPr>
          <a:lstStyle/>
          <a:p>
            <a:pPr>
              <a:buNone/>
            </a:pPr>
            <a:r>
              <a:rPr lang="en-GB">
                <a:ea typeface="+mn-lt"/>
                <a:cs typeface="+mn-lt"/>
              </a:rPr>
              <a:t>•We introduce Augmented Fishing:</a:t>
            </a:r>
            <a:endParaRPr lang="en-US">
              <a:ea typeface="+mn-lt"/>
              <a:cs typeface="+mn-lt"/>
            </a:endParaRPr>
          </a:p>
          <a:p>
            <a:pPr>
              <a:buNone/>
            </a:pPr>
            <a:r>
              <a:rPr lang="en-GB">
                <a:ea typeface="+mn-lt"/>
                <a:cs typeface="+mn-lt"/>
              </a:rPr>
              <a:t>•Augmented Fishing is basically the use of a Fishing Rod that is supplied with a screen/smart device like phone and an underwater camera.</a:t>
            </a:r>
          </a:p>
          <a:p>
            <a:pPr>
              <a:buNone/>
            </a:pPr>
            <a:r>
              <a:rPr lang="en-GB">
                <a:ea typeface="+mn-lt"/>
                <a:cs typeface="+mn-lt"/>
              </a:rPr>
              <a:t>•Camera (Under Water):</a:t>
            </a:r>
          </a:p>
          <a:p>
            <a:pPr lvl="1">
              <a:buNone/>
            </a:pPr>
            <a:r>
              <a:rPr lang="en-GB">
                <a:ea typeface="+mn-lt"/>
                <a:cs typeface="+mn-lt"/>
              </a:rPr>
              <a:t>•Will explore species under water.</a:t>
            </a:r>
          </a:p>
          <a:p>
            <a:pPr>
              <a:buNone/>
            </a:pPr>
            <a:r>
              <a:rPr lang="en-GB">
                <a:ea typeface="+mn-lt"/>
                <a:cs typeface="+mn-lt"/>
              </a:rPr>
              <a:t>•Screen/Phone:</a:t>
            </a:r>
          </a:p>
          <a:p>
            <a:pPr lvl="1">
              <a:buNone/>
            </a:pPr>
            <a:r>
              <a:rPr lang="en-GB">
                <a:ea typeface="+mn-lt"/>
                <a:cs typeface="+mn-lt"/>
              </a:rPr>
              <a:t>•The screen will work with a classification algorithm for fish species</a:t>
            </a:r>
          </a:p>
          <a:p>
            <a:pPr lvl="1">
              <a:buNone/>
            </a:pPr>
            <a:r>
              <a:rPr lang="en-GB">
                <a:ea typeface="+mn-lt"/>
                <a:cs typeface="+mn-lt"/>
              </a:rPr>
              <a:t>•The screen show a live image of what is going on under the water.</a:t>
            </a:r>
          </a:p>
          <a:p>
            <a:pPr lvl="1">
              <a:buNone/>
            </a:pPr>
            <a:r>
              <a:rPr lang="en-GB">
                <a:ea typeface="+mn-lt"/>
                <a:cs typeface="+mn-lt"/>
              </a:rPr>
              <a:t>•The screen will provide with a textual information about fishes under water.</a:t>
            </a:r>
          </a:p>
          <a:p>
            <a:pPr lvl="1">
              <a:buNone/>
            </a:pPr>
            <a:r>
              <a:rPr lang="en-GB">
                <a:ea typeface="+mn-lt"/>
                <a:cs typeface="+mn-lt"/>
              </a:rPr>
              <a:t>•The screen will give pulses for good fishing areas for fishermen preferences and season.</a:t>
            </a:r>
          </a:p>
          <a:p>
            <a:pPr marL="0" indent="0">
              <a:buNone/>
            </a:pPr>
            <a:endParaRPr lang="en-GB">
              <a:cs typeface="Calibri"/>
            </a:endParaRPr>
          </a:p>
        </p:txBody>
      </p:sp>
    </p:spTree>
    <p:extLst>
      <p:ext uri="{BB962C8B-B14F-4D97-AF65-F5344CB8AC3E}">
        <p14:creationId xmlns:p14="http://schemas.microsoft.com/office/powerpoint/2010/main" val="2396246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C95D-85B7-457E-9CE9-D205ACD8136C}"/>
              </a:ext>
            </a:extLst>
          </p:cNvPr>
          <p:cNvSpPr>
            <a:spLocks noGrp="1"/>
          </p:cNvSpPr>
          <p:nvPr>
            <p:ph type="ctrTitle"/>
          </p:nvPr>
        </p:nvSpPr>
        <p:spPr>
          <a:xfrm>
            <a:off x="1524000" y="133350"/>
            <a:ext cx="9144000" cy="771525"/>
          </a:xfrm>
        </p:spPr>
        <p:txBody>
          <a:bodyPr>
            <a:normAutofit/>
          </a:bodyPr>
          <a:lstStyle/>
          <a:p>
            <a:r>
              <a:rPr lang="en-US" sz="2800" b="1">
                <a:ea typeface="+mj-lt"/>
                <a:cs typeface="+mj-lt"/>
              </a:rPr>
              <a:t>Augmented Fishing Prototype</a:t>
            </a:r>
            <a:endParaRPr lang="en-US" b="1"/>
          </a:p>
        </p:txBody>
      </p:sp>
      <p:sp>
        <p:nvSpPr>
          <p:cNvPr id="3" name="Subtitle 2">
            <a:extLst>
              <a:ext uri="{FF2B5EF4-FFF2-40B4-BE49-F238E27FC236}">
                <a16:creationId xmlns:a16="http://schemas.microsoft.com/office/drawing/2014/main" id="{9CAEA116-2902-40A8-ABD1-F08E7963EEE0}"/>
              </a:ext>
            </a:extLst>
          </p:cNvPr>
          <p:cNvSpPr>
            <a:spLocks noGrp="1"/>
          </p:cNvSpPr>
          <p:nvPr>
            <p:ph type="subTitle" idx="1"/>
          </p:nvPr>
        </p:nvSpPr>
        <p:spPr>
          <a:xfrm>
            <a:off x="171450" y="1142999"/>
            <a:ext cx="11811000" cy="5476875"/>
          </a:xfrm>
        </p:spPr>
        <p:txBody>
          <a:bodyPr vert="horz" lIns="91440" tIns="45720" rIns="91440" bIns="45720" rtlCol="0" anchor="t">
            <a:normAutofit/>
          </a:bodyPr>
          <a:lstStyle/>
          <a:p>
            <a:endParaRPr lang="en-US"/>
          </a:p>
          <a:p>
            <a:endParaRPr lang="en-US"/>
          </a:p>
          <a:p>
            <a:endParaRPr lang="en-US">
              <a:solidFill>
                <a:srgbClr val="323130"/>
              </a:solidFill>
              <a:latin typeface="Segoe UI"/>
              <a:cs typeface="Segoe UI"/>
            </a:endParaRPr>
          </a:p>
        </p:txBody>
      </p:sp>
      <p:pic>
        <p:nvPicPr>
          <p:cNvPr id="6" name="Picture 6" descr="Diagram&#10;&#10;Description automatically generated">
            <a:extLst>
              <a:ext uri="{FF2B5EF4-FFF2-40B4-BE49-F238E27FC236}">
                <a16:creationId xmlns:a16="http://schemas.microsoft.com/office/drawing/2014/main" id="{CD6ADAE2-017E-4824-A847-6B2856D1570F}"/>
              </a:ext>
            </a:extLst>
          </p:cNvPr>
          <p:cNvPicPr>
            <a:picLocks noChangeAspect="1"/>
          </p:cNvPicPr>
          <p:nvPr/>
        </p:nvPicPr>
        <p:blipFill>
          <a:blip r:embed="rId2"/>
          <a:stretch>
            <a:fillRect/>
          </a:stretch>
        </p:blipFill>
        <p:spPr>
          <a:xfrm>
            <a:off x="1378744" y="1378744"/>
            <a:ext cx="9720263" cy="5481636"/>
          </a:xfrm>
          <a:prstGeom prst="rect">
            <a:avLst/>
          </a:prstGeom>
        </p:spPr>
      </p:pic>
    </p:spTree>
    <p:extLst>
      <p:ext uri="{BB962C8B-B14F-4D97-AF65-F5344CB8AC3E}">
        <p14:creationId xmlns:p14="http://schemas.microsoft.com/office/powerpoint/2010/main" val="2728409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FF86-DC49-4F0C-B7C2-00CB3DFECAD3}"/>
              </a:ext>
            </a:extLst>
          </p:cNvPr>
          <p:cNvSpPr>
            <a:spLocks noGrp="1"/>
          </p:cNvSpPr>
          <p:nvPr>
            <p:ph type="title"/>
          </p:nvPr>
        </p:nvSpPr>
        <p:spPr/>
        <p:txBody>
          <a:bodyPr>
            <a:normAutofit/>
          </a:bodyPr>
          <a:lstStyle/>
          <a:p>
            <a:pPr algn="ctr"/>
            <a:r>
              <a:rPr lang="en-US" sz="2800" b="1">
                <a:cs typeface="Calibri Light"/>
              </a:rPr>
              <a:t>Augmented Fishing Prototype</a:t>
            </a:r>
            <a:endParaRPr lang="en-US" sz="2800">
              <a:cs typeface="Calibri Light" panose="020F0302020204030204"/>
            </a:endParaRPr>
          </a:p>
        </p:txBody>
      </p:sp>
      <p:sp>
        <p:nvSpPr>
          <p:cNvPr id="3" name="Content Placeholder 2">
            <a:extLst>
              <a:ext uri="{FF2B5EF4-FFF2-40B4-BE49-F238E27FC236}">
                <a16:creationId xmlns:a16="http://schemas.microsoft.com/office/drawing/2014/main" id="{82CC364D-CF65-445E-A668-4C3C8A63C1F7}"/>
              </a:ext>
            </a:extLst>
          </p:cNvPr>
          <p:cNvSpPr>
            <a:spLocks noGrp="1"/>
          </p:cNvSpPr>
          <p:nvPr>
            <p:ph idx="1"/>
          </p:nvPr>
        </p:nvSpPr>
        <p:spPr>
          <a:xfrm>
            <a:off x="838200" y="1682751"/>
            <a:ext cx="10515600" cy="4494212"/>
          </a:xfrm>
        </p:spPr>
        <p:txBody>
          <a:bodyPr vert="horz" lIns="91440" tIns="45720" rIns="91440" bIns="45720" rtlCol="0" anchor="t">
            <a:normAutofit/>
          </a:bodyPr>
          <a:lstStyle/>
          <a:p>
            <a:r>
              <a:rPr lang="en-US">
                <a:cs typeface="Calibri"/>
              </a:rPr>
              <a:t>Above in Figure 1.0 showing our prototype for Augmented Fishing for overcoming issues related to overfishing.</a:t>
            </a:r>
          </a:p>
          <a:p>
            <a:r>
              <a:rPr lang="en-US">
                <a:cs typeface="Calibri"/>
              </a:rPr>
              <a:t>The overall prototype consists of </a:t>
            </a:r>
          </a:p>
          <a:p>
            <a:pPr lvl="1"/>
            <a:r>
              <a:rPr lang="en-US">
                <a:cs typeface="Calibri"/>
              </a:rPr>
              <a:t>A Monitor</a:t>
            </a:r>
          </a:p>
          <a:p>
            <a:pPr lvl="1"/>
            <a:r>
              <a:rPr lang="en-US">
                <a:cs typeface="Calibri"/>
              </a:rPr>
              <a:t>A Camera.</a:t>
            </a:r>
          </a:p>
          <a:p>
            <a:pPr lvl="1"/>
            <a:r>
              <a:rPr lang="en-US">
                <a:cs typeface="Calibri"/>
              </a:rPr>
              <a:t>And the normal fishing rod used by fishermen.</a:t>
            </a:r>
          </a:p>
          <a:p>
            <a:pPr lvl="1"/>
            <a:r>
              <a:rPr lang="en-US">
                <a:cs typeface="Calibri"/>
              </a:rPr>
              <a:t>The user has the option to use a mobile device or a smart monitor.</a:t>
            </a:r>
          </a:p>
          <a:p>
            <a:pPr lvl="1"/>
            <a:endParaRPr lang="en-US">
              <a:cs typeface="Calibri"/>
            </a:endParaRPr>
          </a:p>
        </p:txBody>
      </p:sp>
    </p:spTree>
    <p:extLst>
      <p:ext uri="{BB962C8B-B14F-4D97-AF65-F5344CB8AC3E}">
        <p14:creationId xmlns:p14="http://schemas.microsoft.com/office/powerpoint/2010/main" val="741373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F2471-308A-4C9D-BB5B-1E0D9A1BD2B1}"/>
              </a:ext>
            </a:extLst>
          </p:cNvPr>
          <p:cNvSpPr>
            <a:spLocks noGrp="1"/>
          </p:cNvSpPr>
          <p:nvPr>
            <p:ph type="title"/>
          </p:nvPr>
        </p:nvSpPr>
        <p:spPr>
          <a:xfrm>
            <a:off x="838200" y="365125"/>
            <a:ext cx="10515600" cy="682626"/>
          </a:xfrm>
        </p:spPr>
        <p:txBody>
          <a:bodyPr>
            <a:normAutofit fontScale="90000"/>
          </a:bodyPr>
          <a:lstStyle/>
          <a:p>
            <a:r>
              <a:rPr lang="en-US" b="1">
                <a:cs typeface="Calibri Light"/>
              </a:rPr>
              <a:t>Augmented Fishing Prototype</a:t>
            </a:r>
            <a:endParaRPr lang="en-US"/>
          </a:p>
        </p:txBody>
      </p:sp>
      <p:sp>
        <p:nvSpPr>
          <p:cNvPr id="3" name="Content Placeholder 2">
            <a:extLst>
              <a:ext uri="{FF2B5EF4-FFF2-40B4-BE49-F238E27FC236}">
                <a16:creationId xmlns:a16="http://schemas.microsoft.com/office/drawing/2014/main" id="{96D2B816-883C-48A3-BB4A-DB8B5FF3E77A}"/>
              </a:ext>
            </a:extLst>
          </p:cNvPr>
          <p:cNvSpPr>
            <a:spLocks noGrp="1"/>
          </p:cNvSpPr>
          <p:nvPr>
            <p:ph idx="1"/>
          </p:nvPr>
        </p:nvSpPr>
        <p:spPr>
          <a:xfrm>
            <a:off x="838200" y="1182688"/>
            <a:ext cx="10515600" cy="4994275"/>
          </a:xfrm>
        </p:spPr>
        <p:txBody>
          <a:bodyPr vert="horz" lIns="91440" tIns="45720" rIns="91440" bIns="45720" rtlCol="0" anchor="t">
            <a:normAutofit fontScale="92500"/>
          </a:bodyPr>
          <a:lstStyle/>
          <a:p>
            <a:endParaRPr lang="en-US"/>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r>
              <a:rPr lang="en-US">
                <a:cs typeface="Calibri"/>
              </a:rPr>
              <a:t>The above Fig 2.0, 2.1 showing a mobile device connected to a fishing rod.</a:t>
            </a:r>
          </a:p>
        </p:txBody>
      </p:sp>
      <p:pic>
        <p:nvPicPr>
          <p:cNvPr id="5" name="Picture 5" descr="A picture containing outdoor, person, ground&#10;&#10;Description automatically generated">
            <a:extLst>
              <a:ext uri="{FF2B5EF4-FFF2-40B4-BE49-F238E27FC236}">
                <a16:creationId xmlns:a16="http://schemas.microsoft.com/office/drawing/2014/main" id="{71A8EEB1-7627-4250-BE0F-D9DB8AECB0F6}"/>
              </a:ext>
            </a:extLst>
          </p:cNvPr>
          <p:cNvPicPr>
            <a:picLocks noChangeAspect="1"/>
          </p:cNvPicPr>
          <p:nvPr/>
        </p:nvPicPr>
        <p:blipFill>
          <a:blip r:embed="rId2"/>
          <a:stretch>
            <a:fillRect/>
          </a:stretch>
        </p:blipFill>
        <p:spPr>
          <a:xfrm>
            <a:off x="693074" y="1857538"/>
            <a:ext cx="5505449" cy="3381374"/>
          </a:xfrm>
          <a:prstGeom prst="rect">
            <a:avLst/>
          </a:prstGeom>
        </p:spPr>
      </p:pic>
      <p:pic>
        <p:nvPicPr>
          <p:cNvPr id="7" name="Picture 6" descr="Graphical user interface&#10;&#10;Description automatically generated">
            <a:extLst>
              <a:ext uri="{FF2B5EF4-FFF2-40B4-BE49-F238E27FC236}">
                <a16:creationId xmlns:a16="http://schemas.microsoft.com/office/drawing/2014/main" id="{24E65979-D2E2-4B88-AA67-A7031BA4531E}"/>
              </a:ext>
            </a:extLst>
          </p:cNvPr>
          <p:cNvPicPr>
            <a:picLocks noChangeAspect="1"/>
          </p:cNvPicPr>
          <p:nvPr/>
        </p:nvPicPr>
        <p:blipFill>
          <a:blip r:embed="rId3"/>
          <a:stretch>
            <a:fillRect/>
          </a:stretch>
        </p:blipFill>
        <p:spPr>
          <a:xfrm>
            <a:off x="6533824" y="1857120"/>
            <a:ext cx="5314948" cy="3386613"/>
          </a:xfrm>
          <a:prstGeom prst="rect">
            <a:avLst/>
          </a:prstGeom>
        </p:spPr>
      </p:pic>
    </p:spTree>
    <p:extLst>
      <p:ext uri="{BB962C8B-B14F-4D97-AF65-F5344CB8AC3E}">
        <p14:creationId xmlns:p14="http://schemas.microsoft.com/office/powerpoint/2010/main" val="2428349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0FD9-2492-449F-8743-054EDDB19735}"/>
              </a:ext>
            </a:extLst>
          </p:cNvPr>
          <p:cNvSpPr>
            <a:spLocks noGrp="1"/>
          </p:cNvSpPr>
          <p:nvPr>
            <p:ph type="title"/>
          </p:nvPr>
        </p:nvSpPr>
        <p:spPr/>
        <p:txBody>
          <a:bodyPr>
            <a:normAutofit/>
          </a:bodyPr>
          <a:lstStyle/>
          <a:p>
            <a:pPr algn="ctr"/>
            <a:r>
              <a:rPr lang="en-US" sz="2800" b="1">
                <a:ea typeface="+mj-lt"/>
                <a:cs typeface="+mj-lt"/>
              </a:rPr>
              <a:t>Usability Concern</a:t>
            </a:r>
            <a:endParaRPr lang="en-US" sz="2800">
              <a:cs typeface="Calibri Light" panose="020F0302020204030204"/>
            </a:endParaRPr>
          </a:p>
        </p:txBody>
      </p:sp>
      <p:sp>
        <p:nvSpPr>
          <p:cNvPr id="3" name="Content Placeholder 2">
            <a:extLst>
              <a:ext uri="{FF2B5EF4-FFF2-40B4-BE49-F238E27FC236}">
                <a16:creationId xmlns:a16="http://schemas.microsoft.com/office/drawing/2014/main" id="{5998D293-347F-454E-B869-B48438438783}"/>
              </a:ext>
            </a:extLst>
          </p:cNvPr>
          <p:cNvSpPr>
            <a:spLocks noGrp="1"/>
          </p:cNvSpPr>
          <p:nvPr>
            <p:ph idx="1"/>
          </p:nvPr>
        </p:nvSpPr>
        <p:spPr/>
        <p:txBody>
          <a:bodyPr vert="horz" lIns="91440" tIns="45720" rIns="91440" bIns="45720" rtlCol="0" anchor="t">
            <a:normAutofit/>
          </a:bodyPr>
          <a:lstStyle/>
          <a:p>
            <a:r>
              <a:rPr lang="en-US">
                <a:ea typeface="+mn-lt"/>
                <a:cs typeface="+mn-lt"/>
              </a:rPr>
              <a:t>The monitor may vary in sizes and weights and its attachment to the fishing rod might affect usability and the ability of the fishermen to through the rod into the water</a:t>
            </a:r>
          </a:p>
          <a:p>
            <a:pPr lvl="1"/>
            <a:r>
              <a:rPr lang="en-US">
                <a:ea typeface="+mn-lt"/>
                <a:cs typeface="+mn-lt"/>
              </a:rPr>
              <a:t>So we have added the ability to place the monitor on solid surface like a table or the ground.</a:t>
            </a:r>
            <a:endParaRPr lang="en-US">
              <a:cs typeface="Calibri"/>
            </a:endParaRPr>
          </a:p>
        </p:txBody>
      </p:sp>
    </p:spTree>
    <p:extLst>
      <p:ext uri="{BB962C8B-B14F-4D97-AF65-F5344CB8AC3E}">
        <p14:creationId xmlns:p14="http://schemas.microsoft.com/office/powerpoint/2010/main" val="214658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283C6-6C2B-4A80-9142-AB4C63AB866D}"/>
              </a:ext>
            </a:extLst>
          </p:cNvPr>
          <p:cNvSpPr>
            <a:spLocks noGrp="1"/>
          </p:cNvSpPr>
          <p:nvPr>
            <p:ph type="title"/>
          </p:nvPr>
        </p:nvSpPr>
        <p:spPr>
          <a:xfrm>
            <a:off x="838200" y="365125"/>
            <a:ext cx="10515600" cy="742157"/>
          </a:xfrm>
        </p:spPr>
        <p:txBody>
          <a:bodyPr>
            <a:normAutofit/>
          </a:bodyPr>
          <a:lstStyle/>
          <a:p>
            <a:pPr algn="ctr"/>
            <a:r>
              <a:rPr lang="en-US" sz="2800" b="1">
                <a:cs typeface="Calibri Light"/>
              </a:rPr>
              <a:t>Augmented Fishing Prototype</a:t>
            </a:r>
            <a:endParaRPr lang="en-US" sz="2800">
              <a:cs typeface="Calibri Light" panose="020F0302020204030204"/>
            </a:endParaRPr>
          </a:p>
        </p:txBody>
      </p:sp>
      <p:sp>
        <p:nvSpPr>
          <p:cNvPr id="3" name="Content Placeholder 2">
            <a:extLst>
              <a:ext uri="{FF2B5EF4-FFF2-40B4-BE49-F238E27FC236}">
                <a16:creationId xmlns:a16="http://schemas.microsoft.com/office/drawing/2014/main" id="{928D9C41-1894-4624-AC79-DCB465F40A54}"/>
              </a:ext>
            </a:extLst>
          </p:cNvPr>
          <p:cNvSpPr>
            <a:spLocks noGrp="1"/>
          </p:cNvSpPr>
          <p:nvPr>
            <p:ph idx="1"/>
          </p:nvPr>
        </p:nvSpPr>
        <p:spPr>
          <a:xfrm>
            <a:off x="838200" y="1385094"/>
            <a:ext cx="10515600" cy="5458618"/>
          </a:xfrm>
        </p:spPr>
        <p:txBody>
          <a:bodyPr vert="horz" lIns="91440" tIns="45720" rIns="91440" bIns="45720" rtlCol="0" anchor="t">
            <a:normAutofit fontScale="92500" lnSpcReduction="10000"/>
          </a:bodyPr>
          <a:lstStyle/>
          <a:p>
            <a:endParaRPr lang="en-US"/>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pPr marL="0" indent="0">
              <a:buNone/>
            </a:pPr>
            <a:endParaRPr lang="en-US">
              <a:cs typeface="Calibri"/>
            </a:endParaRPr>
          </a:p>
          <a:p>
            <a:pPr marL="0" indent="0">
              <a:buNone/>
            </a:pPr>
            <a:r>
              <a:rPr lang="en-US">
                <a:cs typeface="Calibri"/>
              </a:rPr>
              <a:t>The above Fig 3.0 shows a monitor stands on the ground connected to the fishing rod.</a:t>
            </a:r>
            <a:endParaRPr lang="en-US"/>
          </a:p>
        </p:txBody>
      </p:sp>
      <p:pic>
        <p:nvPicPr>
          <p:cNvPr id="5" name="Picture 5" descr="A picture containing text, monitor, electronics, screen&#10;&#10;Description automatically generated">
            <a:extLst>
              <a:ext uri="{FF2B5EF4-FFF2-40B4-BE49-F238E27FC236}">
                <a16:creationId xmlns:a16="http://schemas.microsoft.com/office/drawing/2014/main" id="{42F78229-A4D1-4ADC-A072-3227D57E28CB}"/>
              </a:ext>
            </a:extLst>
          </p:cNvPr>
          <p:cNvPicPr>
            <a:picLocks noChangeAspect="1"/>
          </p:cNvPicPr>
          <p:nvPr/>
        </p:nvPicPr>
        <p:blipFill>
          <a:blip r:embed="rId2"/>
          <a:stretch>
            <a:fillRect/>
          </a:stretch>
        </p:blipFill>
        <p:spPr>
          <a:xfrm>
            <a:off x="1611876" y="1108805"/>
            <a:ext cx="9189472" cy="4630789"/>
          </a:xfrm>
          <a:prstGeom prst="rect">
            <a:avLst/>
          </a:prstGeom>
        </p:spPr>
      </p:pic>
    </p:spTree>
    <p:extLst>
      <p:ext uri="{BB962C8B-B14F-4D97-AF65-F5344CB8AC3E}">
        <p14:creationId xmlns:p14="http://schemas.microsoft.com/office/powerpoint/2010/main" val="2393038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57821-302F-4E33-A161-B68288A39057}"/>
              </a:ext>
            </a:extLst>
          </p:cNvPr>
          <p:cNvSpPr>
            <a:spLocks noGrp="1"/>
          </p:cNvSpPr>
          <p:nvPr>
            <p:ph type="title"/>
          </p:nvPr>
        </p:nvSpPr>
        <p:spPr/>
        <p:txBody>
          <a:bodyPr>
            <a:normAutofit/>
          </a:bodyPr>
          <a:lstStyle/>
          <a:p>
            <a:pPr algn="ctr"/>
            <a:r>
              <a:rPr lang="en-US" sz="2800" b="1">
                <a:cs typeface="Calibri Light"/>
              </a:rPr>
              <a:t>Augmented Fishing Prototype</a:t>
            </a:r>
            <a:endParaRPr lang="en-US" sz="2800">
              <a:cs typeface="Calibri Light" panose="020F0302020204030204"/>
            </a:endParaRPr>
          </a:p>
        </p:txBody>
      </p:sp>
      <p:sp>
        <p:nvSpPr>
          <p:cNvPr id="3" name="Content Placeholder 2">
            <a:extLst>
              <a:ext uri="{FF2B5EF4-FFF2-40B4-BE49-F238E27FC236}">
                <a16:creationId xmlns:a16="http://schemas.microsoft.com/office/drawing/2014/main" id="{170CF3C2-9921-4107-9B9A-4E28E0B13CB8}"/>
              </a:ext>
            </a:extLst>
          </p:cNvPr>
          <p:cNvSpPr>
            <a:spLocks noGrp="1"/>
          </p:cNvSpPr>
          <p:nvPr>
            <p:ph idx="1"/>
          </p:nvPr>
        </p:nvSpPr>
        <p:spPr>
          <a:xfrm>
            <a:off x="838200" y="1825625"/>
            <a:ext cx="10515600" cy="5018087"/>
          </a:xfrm>
        </p:spPr>
        <p:txBody>
          <a:bodyPr vert="horz" lIns="91440" tIns="45720" rIns="91440" bIns="45720" rtlCol="0" anchor="t">
            <a:normAutofit lnSpcReduction="10000"/>
          </a:bodyPr>
          <a:lstStyle/>
          <a:p>
            <a:endParaRPr lang="en-US"/>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r>
              <a:rPr lang="en-US">
                <a:cs typeface="Calibri"/>
              </a:rPr>
              <a:t>The above Fig 4.0 showing a camera under the water connected to the fishing string.</a:t>
            </a:r>
          </a:p>
        </p:txBody>
      </p:sp>
      <p:pic>
        <p:nvPicPr>
          <p:cNvPr id="5" name="Picture 5" descr="A picture containing water&#10;&#10;Description automatically generated">
            <a:extLst>
              <a:ext uri="{FF2B5EF4-FFF2-40B4-BE49-F238E27FC236}">
                <a16:creationId xmlns:a16="http://schemas.microsoft.com/office/drawing/2014/main" id="{6EAF916B-4024-4453-AA48-EDDBB0757505}"/>
              </a:ext>
            </a:extLst>
          </p:cNvPr>
          <p:cNvPicPr>
            <a:picLocks noChangeAspect="1"/>
          </p:cNvPicPr>
          <p:nvPr/>
        </p:nvPicPr>
        <p:blipFill>
          <a:blip r:embed="rId2"/>
          <a:stretch>
            <a:fillRect/>
          </a:stretch>
        </p:blipFill>
        <p:spPr>
          <a:xfrm>
            <a:off x="1331120" y="1391604"/>
            <a:ext cx="9041604" cy="4431981"/>
          </a:xfrm>
          <a:prstGeom prst="rect">
            <a:avLst/>
          </a:prstGeom>
        </p:spPr>
      </p:pic>
    </p:spTree>
    <p:extLst>
      <p:ext uri="{BB962C8B-B14F-4D97-AF65-F5344CB8AC3E}">
        <p14:creationId xmlns:p14="http://schemas.microsoft.com/office/powerpoint/2010/main" val="556361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E293-726F-439D-8341-96679EAD7598}"/>
              </a:ext>
            </a:extLst>
          </p:cNvPr>
          <p:cNvSpPr>
            <a:spLocks noGrp="1"/>
          </p:cNvSpPr>
          <p:nvPr>
            <p:ph type="title"/>
          </p:nvPr>
        </p:nvSpPr>
        <p:spPr>
          <a:xfrm>
            <a:off x="838200" y="365125"/>
            <a:ext cx="10515600" cy="968376"/>
          </a:xfrm>
        </p:spPr>
        <p:txBody>
          <a:bodyPr>
            <a:normAutofit/>
          </a:bodyPr>
          <a:lstStyle/>
          <a:p>
            <a:pPr algn="ctr"/>
            <a:r>
              <a:rPr lang="en-US" sz="2800" b="1">
                <a:cs typeface="Calibri Light"/>
              </a:rPr>
              <a:t>Augmented Fishing Prototype</a:t>
            </a:r>
            <a:endParaRPr lang="en-US" sz="2800">
              <a:cs typeface="Calibri Light" panose="020F0302020204030204"/>
            </a:endParaRPr>
          </a:p>
        </p:txBody>
      </p:sp>
      <p:sp>
        <p:nvSpPr>
          <p:cNvPr id="3" name="Content Placeholder 2">
            <a:extLst>
              <a:ext uri="{FF2B5EF4-FFF2-40B4-BE49-F238E27FC236}">
                <a16:creationId xmlns:a16="http://schemas.microsoft.com/office/drawing/2014/main" id="{3D2B7E51-CE2A-4AB7-B55F-FB1FC6EA40D7}"/>
              </a:ext>
            </a:extLst>
          </p:cNvPr>
          <p:cNvSpPr>
            <a:spLocks noGrp="1"/>
          </p:cNvSpPr>
          <p:nvPr>
            <p:ph idx="1"/>
          </p:nvPr>
        </p:nvSpPr>
        <p:spPr>
          <a:xfrm>
            <a:off x="838200" y="1325563"/>
            <a:ext cx="10515600" cy="5518149"/>
          </a:xfrm>
        </p:spPr>
        <p:txBody>
          <a:bodyPr vert="horz" lIns="91440" tIns="45720" rIns="91440" bIns="45720" rtlCol="0" anchor="t">
            <a:normAutofit fontScale="77500" lnSpcReduction="20000"/>
          </a:bodyPr>
          <a:lstStyle/>
          <a:p>
            <a:endParaRPr lang="en-US"/>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r>
              <a:rPr lang="en-US">
                <a:cs typeface="Calibri"/>
              </a:rPr>
              <a:t>The above Fig 5.0 showing a textual representation of a fish basic info, also showing a prohibited fish for any reason could be the area of fishing, the size, the age, the type</a:t>
            </a:r>
          </a:p>
        </p:txBody>
      </p:sp>
      <p:pic>
        <p:nvPicPr>
          <p:cNvPr id="5" name="Picture 7" descr="A picture containing text, fish, spiny-finned fish&#10;&#10;Description automatically generated">
            <a:extLst>
              <a:ext uri="{FF2B5EF4-FFF2-40B4-BE49-F238E27FC236}">
                <a16:creationId xmlns:a16="http://schemas.microsoft.com/office/drawing/2014/main" id="{A42D1791-A28F-4EED-A4DB-3AEDFBDE929D}"/>
              </a:ext>
            </a:extLst>
          </p:cNvPr>
          <p:cNvPicPr>
            <a:picLocks noChangeAspect="1"/>
          </p:cNvPicPr>
          <p:nvPr/>
        </p:nvPicPr>
        <p:blipFill>
          <a:blip r:embed="rId2"/>
          <a:stretch>
            <a:fillRect/>
          </a:stretch>
        </p:blipFill>
        <p:spPr>
          <a:xfrm>
            <a:off x="1992849" y="1326315"/>
            <a:ext cx="8052956" cy="4064791"/>
          </a:xfrm>
          <a:prstGeom prst="rect">
            <a:avLst/>
          </a:prstGeom>
        </p:spPr>
      </p:pic>
    </p:spTree>
    <p:extLst>
      <p:ext uri="{BB962C8B-B14F-4D97-AF65-F5344CB8AC3E}">
        <p14:creationId xmlns:p14="http://schemas.microsoft.com/office/powerpoint/2010/main" val="78903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9ED9-BD41-48C7-AE78-6090E0E61EDC}"/>
              </a:ext>
            </a:extLst>
          </p:cNvPr>
          <p:cNvSpPr>
            <a:spLocks noGrp="1"/>
          </p:cNvSpPr>
          <p:nvPr>
            <p:ph type="title"/>
          </p:nvPr>
        </p:nvSpPr>
        <p:spPr>
          <a:xfrm>
            <a:off x="838200" y="365125"/>
            <a:ext cx="10515600" cy="813595"/>
          </a:xfrm>
        </p:spPr>
        <p:txBody>
          <a:bodyPr>
            <a:normAutofit/>
          </a:bodyPr>
          <a:lstStyle/>
          <a:p>
            <a:pPr algn="ctr"/>
            <a:r>
              <a:rPr lang="en-US" sz="2800" b="1">
                <a:cs typeface="Calibri Light"/>
              </a:rPr>
              <a:t>Augmented Fishing Prototype</a:t>
            </a:r>
            <a:endParaRPr lang="en-US" sz="2800">
              <a:cs typeface="Calibri Light" panose="020F0302020204030204"/>
            </a:endParaRPr>
          </a:p>
        </p:txBody>
      </p:sp>
      <p:sp>
        <p:nvSpPr>
          <p:cNvPr id="3" name="Content Placeholder 2">
            <a:extLst>
              <a:ext uri="{FF2B5EF4-FFF2-40B4-BE49-F238E27FC236}">
                <a16:creationId xmlns:a16="http://schemas.microsoft.com/office/drawing/2014/main" id="{5E005A97-5A8A-46CE-9BC3-A6CB83A12DD2}"/>
              </a:ext>
            </a:extLst>
          </p:cNvPr>
          <p:cNvSpPr>
            <a:spLocks noGrp="1"/>
          </p:cNvSpPr>
          <p:nvPr>
            <p:ph idx="1"/>
          </p:nvPr>
        </p:nvSpPr>
        <p:spPr>
          <a:xfrm>
            <a:off x="838200" y="1182688"/>
            <a:ext cx="10515600" cy="5672931"/>
          </a:xfrm>
        </p:spPr>
        <p:txBody>
          <a:bodyPr vert="horz" lIns="91440" tIns="45720" rIns="91440" bIns="45720" rtlCol="0" anchor="t">
            <a:normAutofit/>
          </a:bodyPr>
          <a:lstStyle/>
          <a:p>
            <a:endParaRPr lang="en-US"/>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pPr marL="0" indent="0">
              <a:buNone/>
            </a:pPr>
            <a:r>
              <a:rPr lang="en-US" sz="2200">
                <a:cs typeface="Calibri"/>
              </a:rPr>
              <a:t>The above Fig 6.0 showing a prohibited fish, and details showing the main reason to be a prohibited fish and other specific fish details.</a:t>
            </a:r>
          </a:p>
        </p:txBody>
      </p:sp>
      <p:pic>
        <p:nvPicPr>
          <p:cNvPr id="4" name="Picture 4" descr="A picture containing text, indoor, fish, spiny-finned fish&#10;&#10;Description automatically generated">
            <a:extLst>
              <a:ext uri="{FF2B5EF4-FFF2-40B4-BE49-F238E27FC236}">
                <a16:creationId xmlns:a16="http://schemas.microsoft.com/office/drawing/2014/main" id="{9628C991-720F-4E16-85D9-336CEC830085}"/>
              </a:ext>
            </a:extLst>
          </p:cNvPr>
          <p:cNvPicPr>
            <a:picLocks noChangeAspect="1"/>
          </p:cNvPicPr>
          <p:nvPr/>
        </p:nvPicPr>
        <p:blipFill>
          <a:blip r:embed="rId2"/>
          <a:stretch>
            <a:fillRect/>
          </a:stretch>
        </p:blipFill>
        <p:spPr>
          <a:xfrm>
            <a:off x="1281341" y="1174694"/>
            <a:ext cx="9187494" cy="4356269"/>
          </a:xfrm>
          <a:prstGeom prst="rect">
            <a:avLst/>
          </a:prstGeom>
        </p:spPr>
      </p:pic>
    </p:spTree>
    <p:extLst>
      <p:ext uri="{BB962C8B-B14F-4D97-AF65-F5344CB8AC3E}">
        <p14:creationId xmlns:p14="http://schemas.microsoft.com/office/powerpoint/2010/main" val="3885752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C95D-85B7-457E-9CE9-D205ACD8136C}"/>
              </a:ext>
            </a:extLst>
          </p:cNvPr>
          <p:cNvSpPr>
            <a:spLocks noGrp="1"/>
          </p:cNvSpPr>
          <p:nvPr>
            <p:ph type="ctrTitle"/>
          </p:nvPr>
        </p:nvSpPr>
        <p:spPr>
          <a:xfrm>
            <a:off x="1524000" y="133350"/>
            <a:ext cx="9144000" cy="771525"/>
          </a:xfrm>
        </p:spPr>
        <p:txBody>
          <a:bodyPr>
            <a:normAutofit/>
          </a:bodyPr>
          <a:lstStyle/>
          <a:p>
            <a:r>
              <a:rPr lang="en-US" sz="2800" b="1">
                <a:ea typeface="+mj-lt"/>
                <a:cs typeface="+mj-lt"/>
              </a:rPr>
              <a:t>Augmented Fishing Prototype</a:t>
            </a:r>
            <a:endParaRPr lang="en-US" b="1"/>
          </a:p>
        </p:txBody>
      </p:sp>
      <p:sp>
        <p:nvSpPr>
          <p:cNvPr id="3" name="Subtitle 2">
            <a:extLst>
              <a:ext uri="{FF2B5EF4-FFF2-40B4-BE49-F238E27FC236}">
                <a16:creationId xmlns:a16="http://schemas.microsoft.com/office/drawing/2014/main" id="{9CAEA116-2902-40A8-ABD1-F08E7963EEE0}"/>
              </a:ext>
            </a:extLst>
          </p:cNvPr>
          <p:cNvSpPr>
            <a:spLocks noGrp="1"/>
          </p:cNvSpPr>
          <p:nvPr>
            <p:ph type="subTitle" idx="1"/>
          </p:nvPr>
        </p:nvSpPr>
        <p:spPr>
          <a:xfrm>
            <a:off x="171450" y="1142999"/>
            <a:ext cx="11811000" cy="5476875"/>
          </a:xfrm>
        </p:spPr>
        <p:txBody>
          <a:bodyPr vert="horz" lIns="91440" tIns="45720" rIns="91440" bIns="45720" rtlCol="0" anchor="t">
            <a:normAutofit/>
          </a:bodyPr>
          <a:lstStyle/>
          <a:p>
            <a:endParaRPr lang="en-US"/>
          </a:p>
          <a:p>
            <a:endParaRPr lang="en-US"/>
          </a:p>
          <a:p>
            <a:endParaRPr lang="en-US">
              <a:solidFill>
                <a:srgbClr val="323130"/>
              </a:solidFill>
              <a:latin typeface="Segoe UI"/>
              <a:cs typeface="Segoe UI"/>
            </a:endParaRPr>
          </a:p>
        </p:txBody>
      </p:sp>
      <p:pic>
        <p:nvPicPr>
          <p:cNvPr id="5" name="Picture 5" descr="A picture containing text&#10;&#10;Description automatically generated">
            <a:extLst>
              <a:ext uri="{FF2B5EF4-FFF2-40B4-BE49-F238E27FC236}">
                <a16:creationId xmlns:a16="http://schemas.microsoft.com/office/drawing/2014/main" id="{767B1AD4-A356-45F5-8D8E-B22A34AB3078}"/>
              </a:ext>
            </a:extLst>
          </p:cNvPr>
          <p:cNvPicPr>
            <a:picLocks noChangeAspect="1"/>
          </p:cNvPicPr>
          <p:nvPr/>
        </p:nvPicPr>
        <p:blipFill>
          <a:blip r:embed="rId2"/>
          <a:stretch>
            <a:fillRect/>
          </a:stretch>
        </p:blipFill>
        <p:spPr>
          <a:xfrm>
            <a:off x="1033463" y="1072954"/>
            <a:ext cx="10113167" cy="5724123"/>
          </a:xfrm>
          <a:prstGeom prst="rect">
            <a:avLst/>
          </a:prstGeom>
        </p:spPr>
      </p:pic>
    </p:spTree>
    <p:extLst>
      <p:ext uri="{BB962C8B-B14F-4D97-AF65-F5344CB8AC3E}">
        <p14:creationId xmlns:p14="http://schemas.microsoft.com/office/powerpoint/2010/main" val="1296983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C95D-85B7-457E-9CE9-D205ACD8136C}"/>
              </a:ext>
            </a:extLst>
          </p:cNvPr>
          <p:cNvSpPr>
            <a:spLocks noGrp="1"/>
          </p:cNvSpPr>
          <p:nvPr>
            <p:ph type="ctrTitle"/>
          </p:nvPr>
        </p:nvSpPr>
        <p:spPr>
          <a:xfrm>
            <a:off x="1524000" y="133350"/>
            <a:ext cx="9144000" cy="771525"/>
          </a:xfrm>
        </p:spPr>
        <p:txBody>
          <a:bodyPr>
            <a:normAutofit/>
          </a:bodyPr>
          <a:lstStyle/>
          <a:p>
            <a:r>
              <a:rPr lang="en-US" sz="2800" b="1">
                <a:ea typeface="+mj-lt"/>
                <a:cs typeface="+mj-lt"/>
              </a:rPr>
              <a:t>Augmented Fishing Prototype</a:t>
            </a:r>
            <a:endParaRPr lang="en-US" b="1"/>
          </a:p>
        </p:txBody>
      </p:sp>
      <p:sp>
        <p:nvSpPr>
          <p:cNvPr id="3" name="Subtitle 2">
            <a:extLst>
              <a:ext uri="{FF2B5EF4-FFF2-40B4-BE49-F238E27FC236}">
                <a16:creationId xmlns:a16="http://schemas.microsoft.com/office/drawing/2014/main" id="{9CAEA116-2902-40A8-ABD1-F08E7963EEE0}"/>
              </a:ext>
            </a:extLst>
          </p:cNvPr>
          <p:cNvSpPr>
            <a:spLocks noGrp="1"/>
          </p:cNvSpPr>
          <p:nvPr>
            <p:ph type="subTitle" idx="1"/>
          </p:nvPr>
        </p:nvSpPr>
        <p:spPr>
          <a:xfrm>
            <a:off x="171450" y="1142999"/>
            <a:ext cx="11811000" cy="5476875"/>
          </a:xfrm>
        </p:spPr>
        <p:txBody>
          <a:bodyPr vert="horz" lIns="91440" tIns="45720" rIns="91440" bIns="45720" rtlCol="0" anchor="t">
            <a:normAutofit/>
          </a:bodyPr>
          <a:lstStyle/>
          <a:p>
            <a:endParaRPr lang="en-US"/>
          </a:p>
          <a:p>
            <a:endParaRPr lang="en-US"/>
          </a:p>
          <a:p>
            <a:endParaRPr lang="en-US">
              <a:solidFill>
                <a:srgbClr val="323130"/>
              </a:solidFill>
              <a:latin typeface="Segoe UI"/>
              <a:cs typeface="Segoe UI"/>
            </a:endParaRPr>
          </a:p>
        </p:txBody>
      </p:sp>
      <p:pic>
        <p:nvPicPr>
          <p:cNvPr id="6" name="Picture 6" descr="A picture containing fish, spiny-finned fish&#10;&#10;Description automatically generated">
            <a:extLst>
              <a:ext uri="{FF2B5EF4-FFF2-40B4-BE49-F238E27FC236}">
                <a16:creationId xmlns:a16="http://schemas.microsoft.com/office/drawing/2014/main" id="{C1AFFA02-6712-455E-82FF-FB847FAE29D6}"/>
              </a:ext>
            </a:extLst>
          </p:cNvPr>
          <p:cNvPicPr>
            <a:picLocks noChangeAspect="1"/>
          </p:cNvPicPr>
          <p:nvPr/>
        </p:nvPicPr>
        <p:blipFill>
          <a:blip r:embed="rId2"/>
          <a:stretch>
            <a:fillRect/>
          </a:stretch>
        </p:blipFill>
        <p:spPr>
          <a:xfrm>
            <a:off x="1089753" y="1091974"/>
            <a:ext cx="10219837" cy="5769428"/>
          </a:xfrm>
          <a:prstGeom prst="rect">
            <a:avLst/>
          </a:prstGeom>
        </p:spPr>
      </p:pic>
    </p:spTree>
    <p:extLst>
      <p:ext uri="{BB962C8B-B14F-4D97-AF65-F5344CB8AC3E}">
        <p14:creationId xmlns:p14="http://schemas.microsoft.com/office/powerpoint/2010/main" val="757693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BFF6F-BE83-4462-95AF-658B88A5FEE1}"/>
              </a:ext>
            </a:extLst>
          </p:cNvPr>
          <p:cNvSpPr>
            <a:spLocks noGrp="1"/>
          </p:cNvSpPr>
          <p:nvPr>
            <p:ph type="title"/>
          </p:nvPr>
        </p:nvSpPr>
        <p:spPr/>
        <p:txBody>
          <a:bodyPr/>
          <a:lstStyle/>
          <a:p>
            <a:r>
              <a:rPr lang="en-GB">
                <a:cs typeface="Calibri Light"/>
              </a:rPr>
              <a:t>Participants</a:t>
            </a:r>
            <a:endParaRPr lang="en-GB"/>
          </a:p>
        </p:txBody>
      </p:sp>
      <p:sp>
        <p:nvSpPr>
          <p:cNvPr id="3" name="Content Placeholder 2">
            <a:extLst>
              <a:ext uri="{FF2B5EF4-FFF2-40B4-BE49-F238E27FC236}">
                <a16:creationId xmlns:a16="http://schemas.microsoft.com/office/drawing/2014/main" id="{9516CEE1-6F05-4204-ACBE-6B1D933EF063}"/>
              </a:ext>
            </a:extLst>
          </p:cNvPr>
          <p:cNvSpPr>
            <a:spLocks noGrp="1"/>
          </p:cNvSpPr>
          <p:nvPr>
            <p:ph idx="1"/>
          </p:nvPr>
        </p:nvSpPr>
        <p:spPr/>
        <p:txBody>
          <a:bodyPr vert="horz" lIns="91440" tIns="45720" rIns="91440" bIns="45720" rtlCol="0" anchor="t">
            <a:normAutofit/>
          </a:bodyPr>
          <a:lstStyle/>
          <a:p>
            <a:r>
              <a:rPr lang="en-GB"/>
              <a:t>Thirty paid participants participated in the study. They were divided</a:t>
            </a:r>
          </a:p>
          <a:p>
            <a:pPr marL="0" indent="0">
              <a:buNone/>
            </a:pPr>
            <a:r>
              <a:rPr lang="en-GB"/>
              <a:t> into two groups:</a:t>
            </a:r>
            <a:endParaRPr lang="en-GB">
              <a:cs typeface="Calibri"/>
            </a:endParaRPr>
          </a:p>
          <a:p>
            <a:pPr marL="571500" lvl="1" indent="-342900"/>
            <a:r>
              <a:rPr lang="en-GB"/>
              <a:t> The first one consisted of twenty professional fishermen with 5 - 10 years of experience in fishing. </a:t>
            </a:r>
            <a:endParaRPr lang="en-GB">
              <a:cs typeface="Calibri"/>
            </a:endParaRPr>
          </a:p>
          <a:p>
            <a:pPr marL="571500" lvl="1" indent="-342900"/>
            <a:r>
              <a:rPr lang="en-GB"/>
              <a:t>The other one had ten fishing practitioners with 10 - 15 previous fishing activities. </a:t>
            </a:r>
            <a:endParaRPr lang="en-GB">
              <a:cs typeface="Calibri"/>
            </a:endParaRPr>
          </a:p>
          <a:p>
            <a:pPr marL="457200" indent="-457200"/>
            <a:r>
              <a:rPr lang="en-GB">
                <a:cs typeface="Calibri"/>
              </a:rPr>
              <a:t>Their average age was 30 years with standard deviation of 10.5. </a:t>
            </a:r>
          </a:p>
          <a:p>
            <a:pPr marL="457200" indent="-457200"/>
            <a:r>
              <a:rPr lang="en-GB"/>
              <a:t>In addition to a control group consisted of five men from the regularity parties were recruited to monitor and control the procedure correctness and validation.</a:t>
            </a:r>
            <a:endParaRPr lang="en-GB">
              <a:cs typeface="Calibri"/>
            </a:endParaRPr>
          </a:p>
        </p:txBody>
      </p:sp>
    </p:spTree>
    <p:extLst>
      <p:ext uri="{BB962C8B-B14F-4D97-AF65-F5344CB8AC3E}">
        <p14:creationId xmlns:p14="http://schemas.microsoft.com/office/powerpoint/2010/main" val="397967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B16F-10E1-40C6-8272-C4907A553216}"/>
              </a:ext>
            </a:extLst>
          </p:cNvPr>
          <p:cNvSpPr>
            <a:spLocks noGrp="1"/>
          </p:cNvSpPr>
          <p:nvPr>
            <p:ph type="title"/>
          </p:nvPr>
        </p:nvSpPr>
        <p:spPr/>
        <p:txBody>
          <a:bodyPr/>
          <a:lstStyle/>
          <a:p>
            <a:r>
              <a:rPr lang="en-GB">
                <a:cs typeface="Calibri Light"/>
              </a:rPr>
              <a:t>Procedure</a:t>
            </a:r>
          </a:p>
        </p:txBody>
      </p:sp>
      <p:sp>
        <p:nvSpPr>
          <p:cNvPr id="3" name="Content Placeholder 2">
            <a:extLst>
              <a:ext uri="{FF2B5EF4-FFF2-40B4-BE49-F238E27FC236}">
                <a16:creationId xmlns:a16="http://schemas.microsoft.com/office/drawing/2014/main" id="{70D88E5E-9ECF-4D2A-9D8E-6480941D994C}"/>
              </a:ext>
            </a:extLst>
          </p:cNvPr>
          <p:cNvSpPr>
            <a:spLocks noGrp="1"/>
          </p:cNvSpPr>
          <p:nvPr>
            <p:ph idx="1"/>
          </p:nvPr>
        </p:nvSpPr>
        <p:spPr/>
        <p:txBody>
          <a:bodyPr vert="horz" lIns="91440" tIns="45720" rIns="91440" bIns="45720" rtlCol="0" anchor="t">
            <a:normAutofit fontScale="92500" lnSpcReduction="10000"/>
          </a:bodyPr>
          <a:lstStyle/>
          <a:p>
            <a:r>
              <a:rPr lang="en-GB">
                <a:ea typeface="+mn-lt"/>
                <a:cs typeface="+mn-lt"/>
              </a:rPr>
              <a:t>The procedure was conducted through two different groups of</a:t>
            </a:r>
            <a:endParaRPr lang="en-GB">
              <a:cs typeface="Calibri" panose="020F0502020204030204"/>
            </a:endParaRPr>
          </a:p>
          <a:p>
            <a:pPr marL="0" indent="0">
              <a:buNone/>
            </a:pPr>
            <a:r>
              <a:rPr lang="en-GB">
                <a:ea typeface="+mn-lt"/>
                <a:cs typeface="+mn-lt"/>
              </a:rPr>
              <a:t> Participants:</a:t>
            </a:r>
          </a:p>
          <a:p>
            <a:pPr marL="457200" lvl="1" indent="-342900"/>
            <a:r>
              <a:rPr lang="en-GB">
                <a:ea typeface="+mn-lt"/>
                <a:cs typeface="+mn-lt"/>
              </a:rPr>
              <a:t> G1 had the professional fishermen.</a:t>
            </a:r>
          </a:p>
          <a:p>
            <a:pPr marL="457200" lvl="1" indent="-342900"/>
            <a:r>
              <a:rPr lang="en-GB">
                <a:ea typeface="+mn-lt"/>
                <a:cs typeface="+mn-lt"/>
              </a:rPr>
              <a:t> G2 included the fishing practitioners.</a:t>
            </a:r>
          </a:p>
          <a:p>
            <a:r>
              <a:rPr lang="en-GB">
                <a:ea typeface="+mn-lt"/>
                <a:cs typeface="+mn-lt"/>
              </a:rPr>
              <a:t>The experiments were video recorded.</a:t>
            </a:r>
          </a:p>
          <a:p>
            <a:r>
              <a:rPr lang="en-US">
                <a:ea typeface="+mn-lt"/>
                <a:cs typeface="+mn-lt"/>
              </a:rPr>
              <a:t>Fishing area and time were considered constant during the experiments.</a:t>
            </a:r>
            <a:endParaRPr lang="en-GB">
              <a:ea typeface="+mn-lt"/>
              <a:cs typeface="+mn-lt"/>
            </a:endParaRPr>
          </a:p>
          <a:p>
            <a:r>
              <a:rPr lang="en-GB">
                <a:ea typeface="+mn-lt"/>
                <a:cs typeface="+mn-lt"/>
              </a:rPr>
              <a:t>The overfishing rate was calculated through the number of wrong fishing for prohibited fishes divided by the total number of fished fishes during the experiment. </a:t>
            </a:r>
            <a:endParaRPr lang="en-GB">
              <a:cs typeface="Calibri"/>
            </a:endParaRPr>
          </a:p>
          <a:p>
            <a:pPr marL="457200" indent="-457200"/>
            <a:r>
              <a:rPr lang="en-GB">
                <a:ea typeface="+mn-lt"/>
                <a:cs typeface="+mn-lt"/>
              </a:rPr>
              <a:t>For this reason, a control group of five men from the regularity parties were recruited to monitor and measure the overfishing rate per group.</a:t>
            </a:r>
            <a:endParaRPr lang="en-GB">
              <a:cs typeface="Calibri"/>
            </a:endParaRPr>
          </a:p>
        </p:txBody>
      </p:sp>
    </p:spTree>
    <p:extLst>
      <p:ext uri="{BB962C8B-B14F-4D97-AF65-F5344CB8AC3E}">
        <p14:creationId xmlns:p14="http://schemas.microsoft.com/office/powerpoint/2010/main" val="2297821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9F72B-7054-4512-B0DD-1BA93529611B}"/>
              </a:ext>
            </a:extLst>
          </p:cNvPr>
          <p:cNvSpPr>
            <a:spLocks noGrp="1"/>
          </p:cNvSpPr>
          <p:nvPr>
            <p:ph type="title"/>
          </p:nvPr>
        </p:nvSpPr>
        <p:spPr/>
        <p:txBody>
          <a:bodyPr/>
          <a:lstStyle/>
          <a:p>
            <a:r>
              <a:rPr lang="en-GB">
                <a:cs typeface="Calibri Light"/>
              </a:rPr>
              <a:t>Study-1</a:t>
            </a:r>
            <a:endParaRPr lang="en-GB"/>
          </a:p>
        </p:txBody>
      </p:sp>
      <p:sp>
        <p:nvSpPr>
          <p:cNvPr id="3" name="Content Placeholder 2">
            <a:extLst>
              <a:ext uri="{FF2B5EF4-FFF2-40B4-BE49-F238E27FC236}">
                <a16:creationId xmlns:a16="http://schemas.microsoft.com/office/drawing/2014/main" id="{46BAAFA8-1826-499D-8257-14B05AEE8F8E}"/>
              </a:ext>
            </a:extLst>
          </p:cNvPr>
          <p:cNvSpPr>
            <a:spLocks noGrp="1"/>
          </p:cNvSpPr>
          <p:nvPr>
            <p:ph idx="1"/>
          </p:nvPr>
        </p:nvSpPr>
        <p:spPr/>
        <p:txBody>
          <a:bodyPr vert="horz" lIns="91440" tIns="45720" rIns="91440" bIns="45720" rtlCol="0" anchor="t">
            <a:normAutofit/>
          </a:bodyPr>
          <a:lstStyle/>
          <a:p>
            <a:pPr marL="457200" indent="-457200"/>
            <a:r>
              <a:rPr lang="en-GB">
                <a:ea typeface="+mn-lt"/>
                <a:cs typeface="+mn-lt"/>
              </a:rPr>
              <a:t>In this study we focused on how the professionality level influenced the overfishing rate. </a:t>
            </a:r>
          </a:p>
          <a:p>
            <a:pPr marL="457200" indent="-457200"/>
            <a:r>
              <a:rPr lang="en-GB">
                <a:ea typeface="+mn-lt"/>
                <a:cs typeface="+mn-lt"/>
              </a:rPr>
              <a:t>G1 and G2 were asked to start their fishing activity using the traditional way. </a:t>
            </a:r>
          </a:p>
          <a:p>
            <a:pPr marL="457200" indent="-457200"/>
            <a:r>
              <a:rPr lang="en-GB">
                <a:ea typeface="+mn-lt"/>
                <a:cs typeface="+mn-lt"/>
              </a:rPr>
              <a:t>After that, the overfishing rate was measured per group.</a:t>
            </a:r>
          </a:p>
        </p:txBody>
      </p:sp>
    </p:spTree>
    <p:extLst>
      <p:ext uri="{BB962C8B-B14F-4D97-AF65-F5344CB8AC3E}">
        <p14:creationId xmlns:p14="http://schemas.microsoft.com/office/powerpoint/2010/main" val="2609059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21F0A-3D52-4CC2-88E3-BE315D42E8C5}"/>
              </a:ext>
            </a:extLst>
          </p:cNvPr>
          <p:cNvSpPr>
            <a:spLocks noGrp="1"/>
          </p:cNvSpPr>
          <p:nvPr>
            <p:ph type="title"/>
          </p:nvPr>
        </p:nvSpPr>
        <p:spPr/>
        <p:txBody>
          <a:bodyPr/>
          <a:lstStyle/>
          <a:p>
            <a:r>
              <a:rPr lang="en-GB">
                <a:cs typeface="Calibri Light"/>
              </a:rPr>
              <a:t>Study-2</a:t>
            </a:r>
            <a:endParaRPr lang="en-GB"/>
          </a:p>
        </p:txBody>
      </p:sp>
      <p:sp>
        <p:nvSpPr>
          <p:cNvPr id="3" name="Content Placeholder 2">
            <a:extLst>
              <a:ext uri="{FF2B5EF4-FFF2-40B4-BE49-F238E27FC236}">
                <a16:creationId xmlns:a16="http://schemas.microsoft.com/office/drawing/2014/main" id="{AA6F813B-1F96-455F-AA4D-99D3CF8FF713}"/>
              </a:ext>
            </a:extLst>
          </p:cNvPr>
          <p:cNvSpPr>
            <a:spLocks noGrp="1"/>
          </p:cNvSpPr>
          <p:nvPr>
            <p:ph idx="1"/>
          </p:nvPr>
        </p:nvSpPr>
        <p:spPr/>
        <p:txBody>
          <a:bodyPr vert="horz" lIns="91440" tIns="45720" rIns="91440" bIns="45720" rtlCol="0" anchor="t">
            <a:normAutofit/>
          </a:bodyPr>
          <a:lstStyle/>
          <a:p>
            <a:r>
              <a:rPr lang="en-GB">
                <a:ea typeface="+mn-lt"/>
                <a:cs typeface="+mn-lt"/>
              </a:rPr>
              <a:t>This study introduced the augmented fishing technique and materials</a:t>
            </a:r>
            <a:endParaRPr lang="en-US">
              <a:cs typeface="Calibri" panose="020F0502020204030204"/>
            </a:endParaRPr>
          </a:p>
          <a:p>
            <a:pPr marL="0" indent="0">
              <a:buNone/>
            </a:pPr>
            <a:r>
              <a:rPr lang="en-GB">
                <a:ea typeface="+mn-lt"/>
                <a:cs typeface="+mn-lt"/>
              </a:rPr>
              <a:t> to be used by the fishermen.</a:t>
            </a:r>
          </a:p>
          <a:p>
            <a:pPr marL="457200" indent="-457200"/>
            <a:r>
              <a:rPr lang="en-GB">
                <a:ea typeface="+mn-lt"/>
                <a:cs typeface="+mn-lt"/>
              </a:rPr>
              <a:t>G1 and G2 were directed to check the mentioned apparatus, such that each individual fisherman could try it freely for 30 minutes without any instructions.</a:t>
            </a:r>
            <a:endParaRPr lang="en-GB">
              <a:cs typeface="Calibri" panose="020F0502020204030204"/>
            </a:endParaRPr>
          </a:p>
          <a:p>
            <a:r>
              <a:rPr lang="en-GB">
                <a:ea typeface="+mn-lt"/>
                <a:cs typeface="+mn-lt"/>
              </a:rPr>
              <a:t>After that, one hour session was held to answer the most relevant questions and inquiries that may affect their fishing experience during the experiment.</a:t>
            </a:r>
            <a:endParaRPr lang="en-GB">
              <a:cs typeface="Calibri" panose="020F0502020204030204"/>
            </a:endParaRPr>
          </a:p>
        </p:txBody>
      </p:sp>
    </p:spTree>
    <p:extLst>
      <p:ext uri="{BB962C8B-B14F-4D97-AF65-F5344CB8AC3E}">
        <p14:creationId xmlns:p14="http://schemas.microsoft.com/office/powerpoint/2010/main" val="2748300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75DAF-47D4-4797-85BF-E804CB36584F}"/>
              </a:ext>
            </a:extLst>
          </p:cNvPr>
          <p:cNvSpPr>
            <a:spLocks noGrp="1"/>
          </p:cNvSpPr>
          <p:nvPr>
            <p:ph type="title"/>
          </p:nvPr>
        </p:nvSpPr>
        <p:spPr/>
        <p:txBody>
          <a:bodyPr/>
          <a:lstStyle/>
          <a:p>
            <a:r>
              <a:rPr lang="en-GB">
                <a:cs typeface="Calibri Light"/>
              </a:rPr>
              <a:t>Results</a:t>
            </a:r>
          </a:p>
        </p:txBody>
      </p:sp>
      <p:pic>
        <p:nvPicPr>
          <p:cNvPr id="4" name="Picture 4" descr="Chart&#10;&#10;Description automatically generated">
            <a:extLst>
              <a:ext uri="{FF2B5EF4-FFF2-40B4-BE49-F238E27FC236}">
                <a16:creationId xmlns:a16="http://schemas.microsoft.com/office/drawing/2014/main" id="{4F289568-4079-496C-830F-16887011AA5E}"/>
              </a:ext>
            </a:extLst>
          </p:cNvPr>
          <p:cNvPicPr>
            <a:picLocks noGrp="1" noChangeAspect="1"/>
          </p:cNvPicPr>
          <p:nvPr>
            <p:ph idx="1"/>
          </p:nvPr>
        </p:nvPicPr>
        <p:blipFill>
          <a:blip r:embed="rId2"/>
          <a:stretch>
            <a:fillRect/>
          </a:stretch>
        </p:blipFill>
        <p:spPr>
          <a:xfrm>
            <a:off x="2215972" y="2828028"/>
            <a:ext cx="7761928" cy="3831771"/>
          </a:xfrm>
        </p:spPr>
      </p:pic>
      <p:sp>
        <p:nvSpPr>
          <p:cNvPr id="7" name="TextBox 6">
            <a:extLst>
              <a:ext uri="{FF2B5EF4-FFF2-40B4-BE49-F238E27FC236}">
                <a16:creationId xmlns:a16="http://schemas.microsoft.com/office/drawing/2014/main" id="{B0E81EDC-C5AF-4ABF-BAFA-05ACAAA8D04F}"/>
              </a:ext>
            </a:extLst>
          </p:cNvPr>
          <p:cNvSpPr txBox="1"/>
          <p:nvPr/>
        </p:nvSpPr>
        <p:spPr>
          <a:xfrm>
            <a:off x="1320722" y="1471166"/>
            <a:ext cx="855652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G1 overfishing rate decreased in study 2 with the half of its previous value to be 15% instead of 30%.</a:t>
            </a:r>
          </a:p>
          <a:p>
            <a:pPr marL="285750" indent="-285750">
              <a:buFont typeface="Arial"/>
              <a:buChar char="•"/>
            </a:pPr>
            <a:r>
              <a:rPr lang="en-US"/>
              <a:t>While the huge edge was derived from G2 which reached to 20% to be nearly the same as the professional group rate.</a:t>
            </a:r>
            <a:endParaRPr lang="en-US">
              <a:cs typeface="Calibri"/>
            </a:endParaRPr>
          </a:p>
        </p:txBody>
      </p:sp>
    </p:spTree>
    <p:extLst>
      <p:ext uri="{BB962C8B-B14F-4D97-AF65-F5344CB8AC3E}">
        <p14:creationId xmlns:p14="http://schemas.microsoft.com/office/powerpoint/2010/main" val="4161597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27DC0-3BD9-4760-B67F-0E3F6A90D167}"/>
              </a:ext>
            </a:extLst>
          </p:cNvPr>
          <p:cNvSpPr>
            <a:spLocks noGrp="1"/>
          </p:cNvSpPr>
          <p:nvPr>
            <p:ph type="title"/>
          </p:nvPr>
        </p:nvSpPr>
        <p:spPr/>
        <p:txBody>
          <a:bodyPr/>
          <a:lstStyle/>
          <a:p>
            <a:r>
              <a:rPr lang="en-GB">
                <a:cs typeface="Calibri Light"/>
              </a:rPr>
              <a:t>Conclusion</a:t>
            </a:r>
          </a:p>
        </p:txBody>
      </p:sp>
      <p:sp>
        <p:nvSpPr>
          <p:cNvPr id="3" name="Content Placeholder 2">
            <a:extLst>
              <a:ext uri="{FF2B5EF4-FFF2-40B4-BE49-F238E27FC236}">
                <a16:creationId xmlns:a16="http://schemas.microsoft.com/office/drawing/2014/main" id="{9C09F7E6-FDC6-4505-8E32-31958D6F9EE4}"/>
              </a:ext>
            </a:extLst>
          </p:cNvPr>
          <p:cNvSpPr>
            <a:spLocks noGrp="1"/>
          </p:cNvSpPr>
          <p:nvPr>
            <p:ph idx="1"/>
          </p:nvPr>
        </p:nvSpPr>
        <p:spPr/>
        <p:txBody>
          <a:bodyPr vert="horz" lIns="91440" tIns="45720" rIns="91440" bIns="45720" rtlCol="0" anchor="t">
            <a:normAutofit/>
          </a:bodyPr>
          <a:lstStyle/>
          <a:p>
            <a:pPr marL="285750" indent="-285750">
              <a:lnSpc>
                <a:spcPct val="100000"/>
              </a:lnSpc>
              <a:spcBef>
                <a:spcPts val="0"/>
              </a:spcBef>
              <a:buFont typeface="Arial,Sans-Serif" panose="020B0604020202020204" pitchFamily="34" charset="0"/>
            </a:pPr>
            <a:r>
              <a:rPr lang="en-US">
                <a:ea typeface="+mn-lt"/>
                <a:cs typeface="+mn-lt"/>
              </a:rPr>
              <a:t>The experiment showed that the usage of augmented fishing technique </a:t>
            </a:r>
          </a:p>
          <a:p>
            <a:pPr marL="742950" lvl="1" indent="-285750">
              <a:lnSpc>
                <a:spcPct val="100000"/>
              </a:lnSpc>
              <a:spcBef>
                <a:spcPts val="0"/>
              </a:spcBef>
              <a:buFont typeface="Arial,Sans-Serif" panose="020B0604020202020204" pitchFamily="34" charset="0"/>
            </a:pPr>
            <a:r>
              <a:rPr lang="en-US">
                <a:ea typeface="+mn-lt"/>
                <a:cs typeface="+mn-lt"/>
              </a:rPr>
              <a:t>Increased the professionalism level of a fisherman.</a:t>
            </a:r>
          </a:p>
          <a:p>
            <a:pPr marL="742950" lvl="1" indent="-285750">
              <a:lnSpc>
                <a:spcPct val="100000"/>
              </a:lnSpc>
              <a:spcBef>
                <a:spcPts val="0"/>
              </a:spcBef>
              <a:buFont typeface="Arial,Sans-Serif" panose="020B0604020202020204" pitchFamily="34" charset="0"/>
            </a:pPr>
            <a:r>
              <a:rPr lang="en-US">
                <a:ea typeface="+mn-lt"/>
                <a:cs typeface="+mn-lt"/>
              </a:rPr>
              <a:t>And eventually decreasing the overfishing rate.</a:t>
            </a:r>
          </a:p>
          <a:p>
            <a:r>
              <a:rPr lang="en-GB">
                <a:ea typeface="+mn-lt"/>
                <a:cs typeface="+mn-lt"/>
              </a:rPr>
              <a:t>The usage of augmented fishing had a great positive effect on decreasing the overfishing rate.</a:t>
            </a:r>
            <a:endParaRPr lang="en-GB">
              <a:cs typeface="Calibri" panose="020F0502020204030204"/>
            </a:endParaRPr>
          </a:p>
        </p:txBody>
      </p:sp>
    </p:spTree>
    <p:extLst>
      <p:ext uri="{BB962C8B-B14F-4D97-AF65-F5344CB8AC3E}">
        <p14:creationId xmlns:p14="http://schemas.microsoft.com/office/powerpoint/2010/main" val="1095833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CAEA116-2902-40A8-ABD1-F08E7963EEE0}"/>
              </a:ext>
            </a:extLst>
          </p:cNvPr>
          <p:cNvSpPr>
            <a:spLocks noGrp="1"/>
          </p:cNvSpPr>
          <p:nvPr>
            <p:ph type="subTitle" idx="1"/>
          </p:nvPr>
        </p:nvSpPr>
        <p:spPr>
          <a:xfrm>
            <a:off x="171450" y="1142999"/>
            <a:ext cx="11811000" cy="5476875"/>
          </a:xfrm>
        </p:spPr>
        <p:txBody>
          <a:bodyPr vert="horz" lIns="91440" tIns="45720" rIns="91440" bIns="45720" rtlCol="0" anchor="t">
            <a:normAutofit/>
          </a:bodyPr>
          <a:lstStyle/>
          <a:p>
            <a:endParaRPr lang="en-US"/>
          </a:p>
          <a:p>
            <a:endParaRPr lang="en-US"/>
          </a:p>
          <a:p>
            <a:endParaRPr lang="en-US">
              <a:solidFill>
                <a:srgbClr val="323130"/>
              </a:solidFill>
              <a:latin typeface="Segoe UI"/>
              <a:cs typeface="Segoe UI"/>
            </a:endParaRPr>
          </a:p>
        </p:txBody>
      </p:sp>
      <p:sp>
        <p:nvSpPr>
          <p:cNvPr id="6" name="Title 5">
            <a:extLst>
              <a:ext uri="{FF2B5EF4-FFF2-40B4-BE49-F238E27FC236}">
                <a16:creationId xmlns:a16="http://schemas.microsoft.com/office/drawing/2014/main" id="{B002E7D9-7E9B-4CC6-B8D5-D233A80C1112}"/>
              </a:ext>
            </a:extLst>
          </p:cNvPr>
          <p:cNvSpPr>
            <a:spLocks noGrp="1"/>
          </p:cNvSpPr>
          <p:nvPr>
            <p:ph type="ctrTitle"/>
          </p:nvPr>
        </p:nvSpPr>
        <p:spPr/>
        <p:txBody>
          <a:bodyPr/>
          <a:lstStyle/>
          <a:p>
            <a:r>
              <a:rPr lang="en-US">
                <a:cs typeface="Calibri Light"/>
              </a:rPr>
              <a:t>Thank You</a:t>
            </a:r>
            <a:endParaRPr lang="en-US"/>
          </a:p>
        </p:txBody>
      </p:sp>
    </p:spTree>
    <p:extLst>
      <p:ext uri="{BB962C8B-B14F-4D97-AF65-F5344CB8AC3E}">
        <p14:creationId xmlns:p14="http://schemas.microsoft.com/office/powerpoint/2010/main" val="89559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23</Slides>
  <Notes>0</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Augmented Fishing Prototype</vt:lpstr>
      <vt:lpstr>What’s the problem that we are solving?</vt:lpstr>
      <vt:lpstr>What’s the research question?</vt:lpstr>
      <vt:lpstr>Who are the users?</vt:lpstr>
      <vt:lpstr>How are we accomplishing this?</vt:lpstr>
      <vt:lpstr>Augmented Fishing Prototype</vt:lpstr>
      <vt:lpstr>Augmented Fishing Prototype</vt:lpstr>
      <vt:lpstr>Augmented Fishing Prototype</vt:lpstr>
      <vt:lpstr>Usability Concern</vt:lpstr>
      <vt:lpstr>Augmented Fishing Prototype</vt:lpstr>
      <vt:lpstr>Augmented Fishing Prototype</vt:lpstr>
      <vt:lpstr>Augmented Fishing Prototype</vt:lpstr>
      <vt:lpstr>Augmented Fishing Prototype</vt:lpstr>
      <vt:lpstr>Augmented Fishing Prototype</vt:lpstr>
      <vt:lpstr>Augmented Fishing Prototype</vt:lpstr>
      <vt:lpstr>Participants</vt:lpstr>
      <vt:lpstr>Procedure</vt:lpstr>
      <vt:lpstr>Study-1</vt:lpstr>
      <vt:lpstr>Study-2</vt:lpstr>
      <vt:lpstr>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cp:revision>
  <dcterms:created xsi:type="dcterms:W3CDTF">2021-03-15T19:51:49Z</dcterms:created>
  <dcterms:modified xsi:type="dcterms:W3CDTF">2021-04-08T10:04:58Z</dcterms:modified>
</cp:coreProperties>
</file>